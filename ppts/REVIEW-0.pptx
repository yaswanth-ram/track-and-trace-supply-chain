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9" r:id="rId4"/>
    <p:sldId id="268" r:id="rId5"/>
    <p:sldId id="272" r:id="rId6"/>
    <p:sldId id="271" r:id="rId7"/>
    <p:sldId id="270" r:id="rId8"/>
    <p:sldId id="273"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F117A4-9F1B-4330-B1D3-7D6C487EA986}" v="17" dt="2024-09-13T12:49:43.847"/>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mha Katreddy" userId="5f3cebdfb884680b" providerId="LiveId" clId="{8EF117A4-9F1B-4330-B1D3-7D6C487EA986}"/>
    <pc:docChg chg="undo custSel addSld delSld modSld sldOrd">
      <pc:chgData name="Bramha Katreddy" userId="5f3cebdfb884680b" providerId="LiveId" clId="{8EF117A4-9F1B-4330-B1D3-7D6C487EA986}" dt="2024-09-13T12:49:58.908" v="471" actId="113"/>
      <pc:docMkLst>
        <pc:docMk/>
      </pc:docMkLst>
      <pc:sldChg chg="modSp mod">
        <pc:chgData name="Bramha Katreddy" userId="5f3cebdfb884680b" providerId="LiveId" clId="{8EF117A4-9F1B-4330-B1D3-7D6C487EA986}" dt="2024-09-11T15:11:58.571" v="168" actId="20577"/>
        <pc:sldMkLst>
          <pc:docMk/>
          <pc:sldMk cId="0" sldId="256"/>
        </pc:sldMkLst>
        <pc:spChg chg="mod">
          <ac:chgData name="Bramha Katreddy" userId="5f3cebdfb884680b" providerId="LiveId" clId="{8EF117A4-9F1B-4330-B1D3-7D6C487EA986}" dt="2024-09-11T15:09:48.294" v="30" actId="20577"/>
          <ac:spMkLst>
            <pc:docMk/>
            <pc:sldMk cId="0" sldId="256"/>
            <ac:spMk id="87" creationId="{00000000-0000-0000-0000-000000000000}"/>
          </ac:spMkLst>
        </pc:spChg>
        <pc:graphicFrameChg chg="mod modGraphic">
          <ac:chgData name="Bramha Katreddy" userId="5f3cebdfb884680b" providerId="LiveId" clId="{8EF117A4-9F1B-4330-B1D3-7D6C487EA986}" dt="2024-09-11T15:11:58.571" v="168" actId="20577"/>
          <ac:graphicFrameMkLst>
            <pc:docMk/>
            <pc:sldMk cId="0" sldId="256"/>
            <ac:graphicFrameMk id="89" creationId="{00000000-0000-0000-0000-000000000000}"/>
          </ac:graphicFrameMkLst>
        </pc:graphicFrameChg>
      </pc:sldChg>
      <pc:sldChg chg="modSp mod ord">
        <pc:chgData name="Bramha Katreddy" userId="5f3cebdfb884680b" providerId="LiveId" clId="{8EF117A4-9F1B-4330-B1D3-7D6C487EA986}" dt="2024-09-13T12:49:58.908" v="471" actId="113"/>
        <pc:sldMkLst>
          <pc:docMk/>
          <pc:sldMk cId="0" sldId="265"/>
        </pc:sldMkLst>
        <pc:spChg chg="mod">
          <ac:chgData name="Bramha Katreddy" userId="5f3cebdfb884680b" providerId="LiveId" clId="{8EF117A4-9F1B-4330-B1D3-7D6C487EA986}" dt="2024-09-13T12:49:58.908" v="471" actId="113"/>
          <ac:spMkLst>
            <pc:docMk/>
            <pc:sldMk cId="0" sldId="265"/>
            <ac:spMk id="145" creationId="{00000000-0000-0000-0000-000000000000}"/>
          </ac:spMkLst>
        </pc:spChg>
      </pc:sldChg>
      <pc:sldChg chg="addSp modSp mod">
        <pc:chgData name="Bramha Katreddy" userId="5f3cebdfb884680b" providerId="LiveId" clId="{8EF117A4-9F1B-4330-B1D3-7D6C487EA986}" dt="2024-09-13T12:19:25.548" v="401" actId="20577"/>
        <pc:sldMkLst>
          <pc:docMk/>
          <pc:sldMk cId="2856357337" sldId="268"/>
        </pc:sldMkLst>
        <pc:spChg chg="add">
          <ac:chgData name="Bramha Katreddy" userId="5f3cebdfb884680b" providerId="LiveId" clId="{8EF117A4-9F1B-4330-B1D3-7D6C487EA986}" dt="2024-09-12T16:01:56.553" v="262"/>
          <ac:spMkLst>
            <pc:docMk/>
            <pc:sldMk cId="2856357337" sldId="268"/>
            <ac:spMk id="2" creationId="{6A94CAD5-C545-0136-ED79-2ECD957B0B02}"/>
          </ac:spMkLst>
        </pc:spChg>
        <pc:spChg chg="mod">
          <ac:chgData name="Bramha Katreddy" userId="5f3cebdfb884680b" providerId="LiveId" clId="{8EF117A4-9F1B-4330-B1D3-7D6C487EA986}" dt="2024-09-13T12:19:25.548" v="401" actId="20577"/>
          <ac:spMkLst>
            <pc:docMk/>
            <pc:sldMk cId="2856357337" sldId="268"/>
            <ac:spMk id="115" creationId="{00000000-0000-0000-0000-000000000000}"/>
          </ac:spMkLst>
        </pc:spChg>
      </pc:sldChg>
      <pc:sldChg chg="modSp mod">
        <pc:chgData name="Bramha Katreddy" userId="5f3cebdfb884680b" providerId="LiveId" clId="{8EF117A4-9F1B-4330-B1D3-7D6C487EA986}" dt="2024-09-12T16:00:51.498" v="259" actId="113"/>
        <pc:sldMkLst>
          <pc:docMk/>
          <pc:sldMk cId="2143451837" sldId="269"/>
        </pc:sldMkLst>
        <pc:spChg chg="mod">
          <ac:chgData name="Bramha Katreddy" userId="5f3cebdfb884680b" providerId="LiveId" clId="{8EF117A4-9F1B-4330-B1D3-7D6C487EA986}" dt="2024-09-12T16:00:51.498" v="259" actId="113"/>
          <ac:spMkLst>
            <pc:docMk/>
            <pc:sldMk cId="2143451837" sldId="269"/>
            <ac:spMk id="97" creationId="{00000000-0000-0000-0000-000000000000}"/>
          </ac:spMkLst>
        </pc:spChg>
      </pc:sldChg>
      <pc:sldChg chg="modSp mod">
        <pc:chgData name="Bramha Katreddy" userId="5f3cebdfb884680b" providerId="LiveId" clId="{8EF117A4-9F1B-4330-B1D3-7D6C487EA986}" dt="2024-09-13T12:22:33.437" v="424" actId="5793"/>
        <pc:sldMkLst>
          <pc:docMk/>
          <pc:sldMk cId="2000455742" sldId="271"/>
        </pc:sldMkLst>
        <pc:spChg chg="mod">
          <ac:chgData name="Bramha Katreddy" userId="5f3cebdfb884680b" providerId="LiveId" clId="{8EF117A4-9F1B-4330-B1D3-7D6C487EA986}" dt="2024-09-13T12:22:33.437" v="424" actId="5793"/>
          <ac:spMkLst>
            <pc:docMk/>
            <pc:sldMk cId="2000455742" sldId="271"/>
            <ac:spMk id="115" creationId="{00000000-0000-0000-0000-000000000000}"/>
          </ac:spMkLst>
        </pc:spChg>
      </pc:sldChg>
      <pc:sldChg chg="addSp modSp mod">
        <pc:chgData name="Bramha Katreddy" userId="5f3cebdfb884680b" providerId="LiveId" clId="{8EF117A4-9F1B-4330-B1D3-7D6C487EA986}" dt="2024-09-13T12:19:43.946" v="409" actId="5793"/>
        <pc:sldMkLst>
          <pc:docMk/>
          <pc:sldMk cId="3338832548" sldId="272"/>
        </pc:sldMkLst>
        <pc:spChg chg="add">
          <ac:chgData name="Bramha Katreddy" userId="5f3cebdfb884680b" providerId="LiveId" clId="{8EF117A4-9F1B-4330-B1D3-7D6C487EA986}" dt="2024-09-12T15:57:24.770" v="205"/>
          <ac:spMkLst>
            <pc:docMk/>
            <pc:sldMk cId="3338832548" sldId="272"/>
            <ac:spMk id="2" creationId="{0085D37F-61C6-6F20-85BC-C9E28CCC35B0}"/>
          </ac:spMkLst>
        </pc:spChg>
        <pc:spChg chg="add">
          <ac:chgData name="Bramha Katreddy" userId="5f3cebdfb884680b" providerId="LiveId" clId="{8EF117A4-9F1B-4330-B1D3-7D6C487EA986}" dt="2024-09-12T15:57:32.252" v="206"/>
          <ac:spMkLst>
            <pc:docMk/>
            <pc:sldMk cId="3338832548" sldId="272"/>
            <ac:spMk id="3" creationId="{A193C947-7C58-6EE6-11D8-2259F2F1DC91}"/>
          </ac:spMkLst>
        </pc:spChg>
        <pc:spChg chg="mod">
          <ac:chgData name="Bramha Katreddy" userId="5f3cebdfb884680b" providerId="LiveId" clId="{8EF117A4-9F1B-4330-B1D3-7D6C487EA986}" dt="2024-09-13T12:19:43.946" v="409" actId="5793"/>
          <ac:spMkLst>
            <pc:docMk/>
            <pc:sldMk cId="3338832548" sldId="272"/>
            <ac:spMk id="115" creationId="{00000000-0000-0000-0000-000000000000}"/>
          </ac:spMkLst>
        </pc:spChg>
      </pc:sldChg>
      <pc:sldChg chg="new del">
        <pc:chgData name="Bramha Katreddy" userId="5f3cebdfb884680b" providerId="LiveId" clId="{8EF117A4-9F1B-4330-B1D3-7D6C487EA986}" dt="2024-09-13T12:30:42.786" v="428" actId="680"/>
        <pc:sldMkLst>
          <pc:docMk/>
          <pc:sldMk cId="22553701"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ciencedirect.com/science/article/pii/S2212827122015049"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eveloper.dhl.com/api-reference/track-and-trace-supply-chain?language_content_entity=en" TargetMode="External"/><Relationship Id="rId5" Type="http://schemas.openxmlformats.org/officeDocument/2006/relationships/hyperlink" Target="https://www.researchgate.net/publication/275834182_Tracking_and_Tracing_of_Global_Supply_Chain_Network_Case_Study_from_a_Finnish_Company" TargetMode="External"/><Relationship Id="rId4" Type="http://schemas.openxmlformats.org/officeDocument/2006/relationships/hyperlink" Target="https://www.scitepress.org/Papers/2021/105154/105154.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745638"/>
            <a:ext cx="10363200" cy="12863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dirty="0">
                <a:solidFill>
                  <a:schemeClr val="tx1"/>
                </a:solidFill>
                <a:latin typeface="Cambria" panose="02040503050406030204" pitchFamily="18" charset="0"/>
                <a:ea typeface="Cambria" panose="02040503050406030204" pitchFamily="18" charset="0"/>
              </a:rPr>
              <a:t>TRACK AND TRACE SUPPLY CHAIN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670441"/>
            <a:ext cx="3970500" cy="6084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a:t>
            </a:r>
            <a:r>
              <a:rPr lang="en-GB" dirty="0">
                <a:solidFill>
                  <a:schemeClr val="tx1"/>
                </a:solidFill>
                <a:latin typeface="Cambria" panose="02040503050406030204" pitchFamily="18" charset="0"/>
                <a:ea typeface="Cambria" panose="02040503050406030204" pitchFamily="18" charset="0"/>
              </a:rPr>
              <a:t>31</a:t>
            </a:r>
            <a:endParaRPr dirty="0">
              <a:solidFill>
                <a:schemeClr val="tx1"/>
              </a:solidFill>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239085"/>
            <a:ext cx="5514300" cy="229481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IN"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Ms. Ayesha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Taranum</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lang="en-IN"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lang="en-IN"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714802"/>
            <a:ext cx="12249915" cy="1479168"/>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Engineering(CSE)</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Asif Mohammed</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Mr. Amarnath J L</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pic>
        <p:nvPicPr>
          <p:cNvPr id="9" name="table">
            <a:extLst>
              <a:ext uri="{FF2B5EF4-FFF2-40B4-BE49-F238E27FC236}">
                <a16:creationId xmlns:a16="http://schemas.microsoft.com/office/drawing/2014/main" id="{C82A7DC6-AF5B-20B6-F75D-7607B014CB44}"/>
              </a:ext>
            </a:extLst>
          </p:cNvPr>
          <p:cNvPicPr>
            <a:picLocks noChangeAspect="1"/>
          </p:cNvPicPr>
          <p:nvPr/>
        </p:nvPicPr>
        <p:blipFill>
          <a:blip r:embed="rId3"/>
          <a:stretch>
            <a:fillRect/>
          </a:stretch>
        </p:blipFill>
        <p:spPr>
          <a:xfrm>
            <a:off x="197470" y="2239085"/>
            <a:ext cx="6282689" cy="490979"/>
          </a:xfrm>
          <a:prstGeom prst="rect">
            <a:avLst/>
          </a:prstGeom>
        </p:spPr>
      </p:pic>
      <p:pic>
        <p:nvPicPr>
          <p:cNvPr id="14" name="table">
            <a:extLst>
              <a:ext uri="{FF2B5EF4-FFF2-40B4-BE49-F238E27FC236}">
                <a16:creationId xmlns:a16="http://schemas.microsoft.com/office/drawing/2014/main" id="{E830D87E-0C3E-CBD4-1EFB-97299B2FE936}"/>
              </a:ext>
            </a:extLst>
          </p:cNvPr>
          <p:cNvPicPr>
            <a:picLocks noChangeAspect="1"/>
          </p:cNvPicPr>
          <p:nvPr/>
        </p:nvPicPr>
        <p:blipFill>
          <a:blip r:embed="rId3"/>
          <a:stretch>
            <a:fillRect/>
          </a:stretch>
        </p:blipFill>
        <p:spPr>
          <a:xfrm>
            <a:off x="197488" y="2725245"/>
            <a:ext cx="6282683" cy="490979"/>
          </a:xfrm>
          <a:prstGeom prst="rect">
            <a:avLst/>
          </a:prstGeom>
        </p:spPr>
      </p:pic>
      <p:pic>
        <p:nvPicPr>
          <p:cNvPr id="15" name="table">
            <a:extLst>
              <a:ext uri="{FF2B5EF4-FFF2-40B4-BE49-F238E27FC236}">
                <a16:creationId xmlns:a16="http://schemas.microsoft.com/office/drawing/2014/main" id="{2AEC7D09-DD93-EBA3-EEE8-27BE93BADCCF}"/>
              </a:ext>
            </a:extLst>
          </p:cNvPr>
          <p:cNvPicPr>
            <a:picLocks noChangeAspect="1"/>
          </p:cNvPicPr>
          <p:nvPr/>
        </p:nvPicPr>
        <p:blipFill>
          <a:blip r:embed="rId3"/>
          <a:stretch>
            <a:fillRect/>
          </a:stretch>
        </p:blipFill>
        <p:spPr>
          <a:xfrm>
            <a:off x="197470" y="3169019"/>
            <a:ext cx="6282689" cy="490979"/>
          </a:xfrm>
          <a:prstGeom prst="rect">
            <a:avLst/>
          </a:prstGeom>
        </p:spPr>
      </p:pic>
      <p:pic>
        <p:nvPicPr>
          <p:cNvPr id="16" name="table">
            <a:extLst>
              <a:ext uri="{FF2B5EF4-FFF2-40B4-BE49-F238E27FC236}">
                <a16:creationId xmlns:a16="http://schemas.microsoft.com/office/drawing/2014/main" id="{F87A00D0-5B69-4FD6-F6E8-0D79D9B23E92}"/>
              </a:ext>
            </a:extLst>
          </p:cNvPr>
          <p:cNvPicPr>
            <a:picLocks noChangeAspect="1"/>
          </p:cNvPicPr>
          <p:nvPr/>
        </p:nvPicPr>
        <p:blipFill>
          <a:blip r:embed="rId3"/>
          <a:stretch>
            <a:fillRect/>
          </a:stretch>
        </p:blipFill>
        <p:spPr>
          <a:xfrm>
            <a:off x="197470" y="3641777"/>
            <a:ext cx="6282689" cy="490979"/>
          </a:xfrm>
          <a:prstGeom prst="rect">
            <a:avLst/>
          </a:prstGeom>
        </p:spPr>
      </p:pic>
      <p:pic>
        <p:nvPicPr>
          <p:cNvPr id="17" name="table">
            <a:extLst>
              <a:ext uri="{FF2B5EF4-FFF2-40B4-BE49-F238E27FC236}">
                <a16:creationId xmlns:a16="http://schemas.microsoft.com/office/drawing/2014/main" id="{7527E922-C40C-4F93-2E2D-44EAD3DC1F0E}"/>
              </a:ext>
            </a:extLst>
          </p:cNvPr>
          <p:cNvPicPr>
            <a:picLocks noChangeAspect="1"/>
          </p:cNvPicPr>
          <p:nvPr/>
        </p:nvPicPr>
        <p:blipFill>
          <a:blip r:embed="rId3"/>
          <a:stretch>
            <a:fillRect/>
          </a:stretch>
        </p:blipFill>
        <p:spPr>
          <a:xfrm>
            <a:off x="197470" y="4111574"/>
            <a:ext cx="6282689" cy="490979"/>
          </a:xfrm>
          <a:prstGeom prst="rect">
            <a:avLst/>
          </a:prstGeom>
        </p:spPr>
      </p:pic>
      <p:sp>
        <p:nvSpPr>
          <p:cNvPr id="3" name="TextBox 2">
            <a:extLst>
              <a:ext uri="{FF2B5EF4-FFF2-40B4-BE49-F238E27FC236}">
                <a16:creationId xmlns:a16="http://schemas.microsoft.com/office/drawing/2014/main" id="{56EF05A2-448B-8995-62C5-BF6F16A54F8D}"/>
              </a:ext>
            </a:extLst>
          </p:cNvPr>
          <p:cNvSpPr txBox="1"/>
          <p:nvPr/>
        </p:nvSpPr>
        <p:spPr>
          <a:xfrm>
            <a:off x="260879" y="2344655"/>
            <a:ext cx="6155870" cy="369332"/>
          </a:xfrm>
          <a:prstGeom prst="rect">
            <a:avLst/>
          </a:prstGeom>
          <a:noFill/>
        </p:spPr>
        <p:txBody>
          <a:bodyPr wrap="square">
            <a:spAutoFit/>
          </a:bodyPr>
          <a:lstStyle/>
          <a:p>
            <a:r>
              <a:rPr lang="en-IN" sz="1800" b="1">
                <a:latin typeface="+mj-lt"/>
              </a:rPr>
              <a:t>ROLL NUMBERS</a:t>
            </a:r>
            <a:endParaRPr lang="en-IN" sz="1800" b="1" dirty="0">
              <a:latin typeface="+mj-lt"/>
            </a:endParaRPr>
          </a:p>
        </p:txBody>
      </p:sp>
      <p:sp>
        <p:nvSpPr>
          <p:cNvPr id="5" name="TextBox 4">
            <a:extLst>
              <a:ext uri="{FF2B5EF4-FFF2-40B4-BE49-F238E27FC236}">
                <a16:creationId xmlns:a16="http://schemas.microsoft.com/office/drawing/2014/main" id="{D0C7162A-25E1-1C8A-FC78-B5E8BC7EE678}"/>
              </a:ext>
            </a:extLst>
          </p:cNvPr>
          <p:cNvSpPr txBox="1"/>
          <p:nvPr/>
        </p:nvSpPr>
        <p:spPr>
          <a:xfrm>
            <a:off x="3338814" y="2328027"/>
            <a:ext cx="6155870" cy="369332"/>
          </a:xfrm>
          <a:prstGeom prst="rect">
            <a:avLst/>
          </a:prstGeom>
          <a:noFill/>
        </p:spPr>
        <p:txBody>
          <a:bodyPr wrap="square">
            <a:spAutoFit/>
          </a:bodyPr>
          <a:lstStyle/>
          <a:p>
            <a:r>
              <a:rPr lang="en-IN" sz="1800" b="1" dirty="0">
                <a:latin typeface="+mj-lt"/>
              </a:rPr>
              <a:t>STUDENT NAMES</a:t>
            </a:r>
          </a:p>
        </p:txBody>
      </p:sp>
      <p:sp>
        <p:nvSpPr>
          <p:cNvPr id="7" name="TextBox 6">
            <a:extLst>
              <a:ext uri="{FF2B5EF4-FFF2-40B4-BE49-F238E27FC236}">
                <a16:creationId xmlns:a16="http://schemas.microsoft.com/office/drawing/2014/main" id="{CE4C9997-FEE0-0F9E-E743-4749D9229B53}"/>
              </a:ext>
            </a:extLst>
          </p:cNvPr>
          <p:cNvSpPr txBox="1"/>
          <p:nvPr/>
        </p:nvSpPr>
        <p:spPr>
          <a:xfrm>
            <a:off x="197464" y="2785884"/>
            <a:ext cx="6155870" cy="338554"/>
          </a:xfrm>
          <a:prstGeom prst="rect">
            <a:avLst/>
          </a:prstGeom>
          <a:noFill/>
        </p:spPr>
        <p:txBody>
          <a:bodyPr wrap="square">
            <a:spAutoFit/>
          </a:bodyPr>
          <a:lstStyle/>
          <a:p>
            <a:r>
              <a:rPr lang="en-IN" sz="1600" b="1" dirty="0">
                <a:solidFill>
                  <a:schemeClr val="bg2"/>
                </a:solidFill>
                <a:latin typeface="+mn-lt"/>
              </a:rPr>
              <a:t>20211CSE0148</a:t>
            </a:r>
          </a:p>
        </p:txBody>
      </p:sp>
      <p:sp>
        <p:nvSpPr>
          <p:cNvPr id="11" name="TextBox 10">
            <a:extLst>
              <a:ext uri="{FF2B5EF4-FFF2-40B4-BE49-F238E27FC236}">
                <a16:creationId xmlns:a16="http://schemas.microsoft.com/office/drawing/2014/main" id="{65FF77D4-386B-CE7E-C1D8-75BB9BDF885C}"/>
              </a:ext>
            </a:extLst>
          </p:cNvPr>
          <p:cNvSpPr txBox="1"/>
          <p:nvPr/>
        </p:nvSpPr>
        <p:spPr>
          <a:xfrm>
            <a:off x="3338814" y="2762739"/>
            <a:ext cx="3027418" cy="338554"/>
          </a:xfrm>
          <a:prstGeom prst="rect">
            <a:avLst/>
          </a:prstGeom>
          <a:noFill/>
        </p:spPr>
        <p:txBody>
          <a:bodyPr wrap="square">
            <a:spAutoFit/>
          </a:bodyPr>
          <a:lstStyle/>
          <a:p>
            <a:r>
              <a:rPr lang="en-IN" sz="1600" b="1" dirty="0">
                <a:solidFill>
                  <a:schemeClr val="bg2"/>
                </a:solidFill>
              </a:rPr>
              <a:t>K V </a:t>
            </a:r>
            <a:r>
              <a:rPr lang="en-IN" sz="1600" b="1" dirty="0">
                <a:solidFill>
                  <a:schemeClr val="bg2"/>
                </a:solidFill>
                <a:latin typeface="+mn-lt"/>
              </a:rPr>
              <a:t>BRAMHANANDA</a:t>
            </a:r>
            <a:r>
              <a:rPr lang="en-IN" sz="1600" b="1" dirty="0">
                <a:solidFill>
                  <a:schemeClr val="bg2"/>
                </a:solidFill>
              </a:rPr>
              <a:t> REEDY</a:t>
            </a:r>
          </a:p>
        </p:txBody>
      </p:sp>
      <p:sp>
        <p:nvSpPr>
          <p:cNvPr id="13" name="TextBox 12">
            <a:extLst>
              <a:ext uri="{FF2B5EF4-FFF2-40B4-BE49-F238E27FC236}">
                <a16:creationId xmlns:a16="http://schemas.microsoft.com/office/drawing/2014/main" id="{0250EAAC-E5D9-4262-9675-7D45C0A29422}"/>
              </a:ext>
            </a:extLst>
          </p:cNvPr>
          <p:cNvSpPr txBox="1"/>
          <p:nvPr/>
        </p:nvSpPr>
        <p:spPr>
          <a:xfrm>
            <a:off x="210362" y="3252787"/>
            <a:ext cx="6155870" cy="338554"/>
          </a:xfrm>
          <a:prstGeom prst="rect">
            <a:avLst/>
          </a:prstGeom>
          <a:noFill/>
        </p:spPr>
        <p:txBody>
          <a:bodyPr wrap="square">
            <a:spAutoFit/>
          </a:bodyPr>
          <a:lstStyle/>
          <a:p>
            <a:r>
              <a:rPr lang="en-IN" sz="1600" b="1" dirty="0">
                <a:solidFill>
                  <a:schemeClr val="bg2"/>
                </a:solidFill>
                <a:latin typeface="+mn-lt"/>
              </a:rPr>
              <a:t>20211CSE0093</a:t>
            </a:r>
          </a:p>
        </p:txBody>
      </p:sp>
      <p:sp>
        <p:nvSpPr>
          <p:cNvPr id="19" name="TextBox 18">
            <a:extLst>
              <a:ext uri="{FF2B5EF4-FFF2-40B4-BE49-F238E27FC236}">
                <a16:creationId xmlns:a16="http://schemas.microsoft.com/office/drawing/2014/main" id="{5A62F92E-DD57-4764-AB6C-EC0D7D39BAC5}"/>
              </a:ext>
            </a:extLst>
          </p:cNvPr>
          <p:cNvSpPr txBox="1"/>
          <p:nvPr/>
        </p:nvSpPr>
        <p:spPr>
          <a:xfrm>
            <a:off x="3305854" y="3231140"/>
            <a:ext cx="3110896" cy="338554"/>
          </a:xfrm>
          <a:prstGeom prst="rect">
            <a:avLst/>
          </a:prstGeom>
          <a:noFill/>
        </p:spPr>
        <p:txBody>
          <a:bodyPr wrap="square">
            <a:spAutoFit/>
          </a:bodyPr>
          <a:lstStyle/>
          <a:p>
            <a:r>
              <a:rPr lang="en-IN" sz="1600" b="1" dirty="0">
                <a:solidFill>
                  <a:schemeClr val="bg2"/>
                </a:solidFill>
                <a:latin typeface="+mn-lt"/>
              </a:rPr>
              <a:t>THOTA YASWANTH RAM</a:t>
            </a:r>
          </a:p>
        </p:txBody>
      </p:sp>
      <p:sp>
        <p:nvSpPr>
          <p:cNvPr id="25" name="TextBox 24">
            <a:extLst>
              <a:ext uri="{FF2B5EF4-FFF2-40B4-BE49-F238E27FC236}">
                <a16:creationId xmlns:a16="http://schemas.microsoft.com/office/drawing/2014/main" id="{A0FF15B7-FE41-6569-B632-FDD3B7126287}"/>
              </a:ext>
            </a:extLst>
          </p:cNvPr>
          <p:cNvSpPr txBox="1"/>
          <p:nvPr/>
        </p:nvSpPr>
        <p:spPr>
          <a:xfrm>
            <a:off x="210362" y="3721174"/>
            <a:ext cx="6155870" cy="338554"/>
          </a:xfrm>
          <a:prstGeom prst="rect">
            <a:avLst/>
          </a:prstGeom>
          <a:noFill/>
        </p:spPr>
        <p:txBody>
          <a:bodyPr wrap="square">
            <a:spAutoFit/>
          </a:bodyPr>
          <a:lstStyle/>
          <a:p>
            <a:r>
              <a:rPr lang="en-IN" sz="1600" b="1">
                <a:solidFill>
                  <a:schemeClr val="bg2"/>
                </a:solidFill>
                <a:latin typeface="+mn-lt"/>
              </a:rPr>
              <a:t>20211CSE0121 </a:t>
            </a:r>
            <a:endParaRPr lang="en-IN" sz="1600" b="1" dirty="0">
              <a:solidFill>
                <a:schemeClr val="bg2"/>
              </a:solidFill>
              <a:latin typeface="+mn-lt"/>
            </a:endParaRPr>
          </a:p>
        </p:txBody>
      </p:sp>
      <p:sp>
        <p:nvSpPr>
          <p:cNvPr id="27" name="TextBox 26">
            <a:extLst>
              <a:ext uri="{FF2B5EF4-FFF2-40B4-BE49-F238E27FC236}">
                <a16:creationId xmlns:a16="http://schemas.microsoft.com/office/drawing/2014/main" id="{FAB1E582-4B3D-6790-296F-0893BDC069B8}"/>
              </a:ext>
            </a:extLst>
          </p:cNvPr>
          <p:cNvSpPr txBox="1"/>
          <p:nvPr/>
        </p:nvSpPr>
        <p:spPr>
          <a:xfrm>
            <a:off x="3301189" y="3733377"/>
            <a:ext cx="3115560" cy="338554"/>
          </a:xfrm>
          <a:prstGeom prst="rect">
            <a:avLst/>
          </a:prstGeom>
          <a:noFill/>
        </p:spPr>
        <p:txBody>
          <a:bodyPr wrap="square">
            <a:spAutoFit/>
          </a:bodyPr>
          <a:lstStyle/>
          <a:p>
            <a:r>
              <a:rPr lang="en-IN" sz="1600" b="1" dirty="0">
                <a:solidFill>
                  <a:schemeClr val="bg2"/>
                </a:solidFill>
                <a:latin typeface="+mn-lt"/>
              </a:rPr>
              <a:t>D GURUVARDHAN REDDY</a:t>
            </a:r>
          </a:p>
        </p:txBody>
      </p:sp>
      <p:sp>
        <p:nvSpPr>
          <p:cNvPr id="31" name="TextBox 30">
            <a:extLst>
              <a:ext uri="{FF2B5EF4-FFF2-40B4-BE49-F238E27FC236}">
                <a16:creationId xmlns:a16="http://schemas.microsoft.com/office/drawing/2014/main" id="{C77DA9B1-0973-0651-47B1-F7AF5A4424A2}"/>
              </a:ext>
            </a:extLst>
          </p:cNvPr>
          <p:cNvSpPr txBox="1"/>
          <p:nvPr/>
        </p:nvSpPr>
        <p:spPr>
          <a:xfrm>
            <a:off x="197434" y="4179242"/>
            <a:ext cx="6155870" cy="338554"/>
          </a:xfrm>
          <a:prstGeom prst="rect">
            <a:avLst/>
          </a:prstGeom>
          <a:noFill/>
        </p:spPr>
        <p:txBody>
          <a:bodyPr wrap="square">
            <a:spAutoFit/>
          </a:bodyPr>
          <a:lstStyle/>
          <a:p>
            <a:r>
              <a:rPr lang="en-IN" sz="1600" b="1" dirty="0">
                <a:solidFill>
                  <a:schemeClr val="bg2"/>
                </a:solidFill>
                <a:latin typeface="+mn-lt"/>
              </a:rPr>
              <a:t>20211CSE0097</a:t>
            </a:r>
          </a:p>
        </p:txBody>
      </p:sp>
      <p:sp>
        <p:nvSpPr>
          <p:cNvPr id="33" name="TextBox 32">
            <a:extLst>
              <a:ext uri="{FF2B5EF4-FFF2-40B4-BE49-F238E27FC236}">
                <a16:creationId xmlns:a16="http://schemas.microsoft.com/office/drawing/2014/main" id="{08F14D47-C3F2-4730-D25A-ABD10E7F1795}"/>
              </a:ext>
            </a:extLst>
          </p:cNvPr>
          <p:cNvSpPr txBox="1"/>
          <p:nvPr/>
        </p:nvSpPr>
        <p:spPr>
          <a:xfrm>
            <a:off x="3301189" y="4210019"/>
            <a:ext cx="3115560" cy="338554"/>
          </a:xfrm>
          <a:prstGeom prst="rect">
            <a:avLst/>
          </a:prstGeom>
          <a:noFill/>
        </p:spPr>
        <p:txBody>
          <a:bodyPr wrap="square">
            <a:spAutoFit/>
          </a:bodyPr>
          <a:lstStyle/>
          <a:p>
            <a:r>
              <a:rPr lang="en-IN" sz="1600" b="1" dirty="0">
                <a:solidFill>
                  <a:schemeClr val="bg2"/>
                </a:solidFill>
                <a:latin typeface="+mn-lt"/>
              </a:rPr>
              <a:t>K CHARAN SAI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r>
              <a:rPr lang="en-IN" dirty="0"/>
              <a:t>PSCS92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IN" dirty="0"/>
              <a:t>Hindustan Unilever Ltd</a:t>
            </a:r>
            <a:endParaRPr lang="en-US" dirty="0">
              <a:latin typeface="Cambria" panose="02040503050406030204" pitchFamily="18" charset="0"/>
              <a:ea typeface="Cambria" panose="02040503050406030204" pitchFamily="18" charset="0"/>
            </a:endParaRPr>
          </a:p>
          <a:p>
            <a:pPr marL="342900" lvl="0" indent="-190500" algn="just">
              <a:spcBef>
                <a:spcPts val="0"/>
              </a:spcBef>
              <a:buNone/>
            </a:pPr>
            <a:r>
              <a:rPr lang="en-US" dirty="0">
                <a:latin typeface="Cambria" panose="02040503050406030204" pitchFamily="18" charset="0"/>
                <a:ea typeface="Cambria" panose="02040503050406030204" pitchFamily="18" charset="0"/>
              </a:rPr>
              <a:t>Category (Hardware / Software / Both) :Software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dirty="0">
                <a:latin typeface="Cambria" panose="02040503050406030204" pitchFamily="18" charset="0"/>
                <a:ea typeface="Cambria" panose="02040503050406030204" pitchFamily="18" charset="0"/>
              </a:rPr>
              <a:t>: </a:t>
            </a:r>
            <a:r>
              <a:rPr lang="en-US" sz="2200" dirty="0">
                <a:latin typeface="Cambria" panose="02040503050406030204" pitchFamily="18" charset="0"/>
                <a:ea typeface="Cambria" panose="02040503050406030204" pitchFamily="18" charset="0"/>
              </a:rPr>
              <a:t>Every year Millions of units of consumer products are transported from farms to factories to distributors to retailers and finally the end consumer. To deliver Quality and transparency, Organizations need to be able to trace each product to its origin. The challenge is to design a solution to track each of the millions of units from point of origin to retailer. Traditional bar code based solutions becomes difficult to manage beyond the distributors. The design should need minimal human effort</a:t>
            </a:r>
            <a:r>
              <a:rPr lang="en-US" sz="1600" dirty="0">
                <a:latin typeface="Cambria" panose="02040503050406030204" pitchFamily="18" charset="0"/>
                <a:ea typeface="Cambria" panose="02040503050406030204" pitchFamily="18" charset="0"/>
              </a:rPr>
              <a:t>.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Difficulty Level</a:t>
            </a:r>
            <a:r>
              <a:rPr lang="en-US" dirty="0">
                <a:latin typeface="Cambria" panose="02040503050406030204" pitchFamily="18" charset="0"/>
                <a:ea typeface="Cambria" panose="02040503050406030204" pitchFamily="18" charset="0"/>
              </a:rPr>
              <a:t>: complex</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A655F5C-56E6-6A8F-67B4-D124AC92392A}"/>
              </a:ext>
            </a:extLst>
          </p:cNvPr>
          <p:cNvSpPr txBox="1"/>
          <p:nvPr/>
        </p:nvSpPr>
        <p:spPr>
          <a:xfrm>
            <a:off x="615043" y="1274535"/>
            <a:ext cx="11506200" cy="5109091"/>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1.High Volume of Products: </a:t>
            </a:r>
            <a:r>
              <a:rPr lang="en-US" sz="2400" dirty="0">
                <a:latin typeface="Cambria" panose="02040503050406030204" pitchFamily="18" charset="0"/>
                <a:ea typeface="Cambria" panose="02040503050406030204" pitchFamily="18" charset="0"/>
              </a:rPr>
              <a:t>Millions of consumer product units are transported through various stages—from farms to factories, distributors, retailers, and eventually consumers.</a:t>
            </a:r>
          </a:p>
          <a:p>
            <a:r>
              <a:rPr lang="en-US" sz="2400" b="1" dirty="0">
                <a:latin typeface="Cambria" panose="02040503050406030204" pitchFamily="18" charset="0"/>
                <a:ea typeface="Cambria" panose="02040503050406030204" pitchFamily="18" charset="0"/>
              </a:rPr>
              <a:t>2.Need for Traceability: </a:t>
            </a:r>
            <a:r>
              <a:rPr lang="en-US" sz="2400" dirty="0">
                <a:latin typeface="Cambria" panose="02040503050406030204" pitchFamily="18" charset="0"/>
                <a:ea typeface="Cambria" panose="02040503050406030204" pitchFamily="18" charset="0"/>
              </a:rPr>
              <a:t>There is a growing demand for organizations to track each product unit from its point of origin to the retailer, ensuring quality and transparency.</a:t>
            </a:r>
          </a:p>
          <a:p>
            <a:r>
              <a:rPr lang="en-US" sz="2400" b="1" dirty="0">
                <a:latin typeface="Cambria" panose="02040503050406030204" pitchFamily="18" charset="0"/>
                <a:ea typeface="Cambria" panose="02040503050406030204" pitchFamily="18" charset="0"/>
              </a:rPr>
              <a:t>3.Challenge of Traditional Systems: </a:t>
            </a:r>
            <a:r>
              <a:rPr lang="en-US" sz="2400" dirty="0">
                <a:latin typeface="Cambria" panose="02040503050406030204" pitchFamily="18" charset="0"/>
                <a:ea typeface="Cambria" panose="02040503050406030204" pitchFamily="18" charset="0"/>
              </a:rPr>
              <a:t>Barcode-based tracking systems become difficult to manage beyond the distributor stage, especially given the high volume of products.</a:t>
            </a:r>
          </a:p>
          <a:p>
            <a:r>
              <a:rPr lang="en-US" sz="2400" b="1" dirty="0">
                <a:latin typeface="Cambria" panose="02040503050406030204" pitchFamily="18" charset="0"/>
                <a:ea typeface="Cambria" panose="02040503050406030204" pitchFamily="18" charset="0"/>
              </a:rPr>
              <a:t>4.Automation Requirement: </a:t>
            </a:r>
            <a:r>
              <a:rPr lang="en-US" sz="2400" dirty="0">
                <a:latin typeface="Cambria" panose="02040503050406030204" pitchFamily="18" charset="0"/>
                <a:ea typeface="Cambria" panose="02040503050406030204" pitchFamily="18" charset="0"/>
              </a:rPr>
              <a:t>The proposed solution should minimize human effort to handle the vast number of units and ensure efficient tracking throughout the supply chain.</a:t>
            </a:r>
          </a:p>
          <a:p>
            <a:r>
              <a:rPr lang="en-US" sz="2400" b="1" dirty="0">
                <a:latin typeface="Cambria" panose="02040503050406030204" pitchFamily="18" charset="0"/>
                <a:ea typeface="Cambria" panose="02040503050406030204" pitchFamily="18" charset="0"/>
              </a:rPr>
              <a:t>5.End-to-End Visibility: </a:t>
            </a:r>
            <a:r>
              <a:rPr lang="en-US" sz="2400" dirty="0">
                <a:latin typeface="Cambria" panose="02040503050406030204" pitchFamily="18" charset="0"/>
                <a:ea typeface="Cambria" panose="02040503050406030204" pitchFamily="18" charset="0"/>
              </a:rPr>
              <a:t>The solution should offer complete traceability across all stages of the product lifecycle, from origin to the end consumer</a:t>
            </a:r>
            <a:r>
              <a:rPr lang="en-US" dirty="0">
                <a:latin typeface="Cambria" panose="02040503050406030204" pitchFamily="18" charset="0"/>
                <a:ea typeface="Cambria" panose="02040503050406030204" pitchFamily="18" charset="0"/>
              </a:rPr>
              <a: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IN" b="1" dirty="0">
                <a:latin typeface="Cambria" panose="02040503050406030204" pitchFamily="18" charset="0"/>
                <a:ea typeface="Cambria" panose="02040503050406030204" pitchFamily="18" charset="0"/>
              </a:rPr>
              <a:t>Technology Components</a:t>
            </a:r>
          </a:p>
          <a:p>
            <a:pPr marL="342900" lvl="0" indent="-190500" algn="just" rtl="0">
              <a:lnSpc>
                <a:spcPct val="200000"/>
              </a:lnSpc>
              <a:spcBef>
                <a:spcPts val="0"/>
              </a:spcBef>
              <a:spcAft>
                <a:spcPts val="0"/>
              </a:spcAft>
              <a:buClr>
                <a:schemeClr val="dk1"/>
              </a:buClr>
              <a:buSzPct val="100000"/>
              <a:buNone/>
            </a:pPr>
            <a:r>
              <a:rPr lang="en-IN" b="1" dirty="0">
                <a:latin typeface="Cambria" panose="02040503050406030204" pitchFamily="18" charset="0"/>
                <a:ea typeface="Cambria" panose="02040503050406030204" pitchFamily="18" charset="0"/>
              </a:rPr>
              <a:t>Frontend</a:t>
            </a:r>
            <a:r>
              <a:rPr lang="en-IN"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React.js,</a:t>
            </a:r>
            <a:r>
              <a:rPr lang="en-IN" sz="2000" dirty="0">
                <a:latin typeface="Cambria" panose="02040503050406030204" pitchFamily="18" charset="0"/>
                <a:ea typeface="Cambria" panose="02040503050406030204" pitchFamily="18" charset="0"/>
              </a:rPr>
              <a:t> Next.js, Flutter,</a:t>
            </a:r>
            <a:r>
              <a:rPr lang="en-US" sz="2000" dirty="0">
                <a:latin typeface="Cambria" panose="02040503050406030204" pitchFamily="18" charset="0"/>
                <a:ea typeface="Cambria" panose="02040503050406030204" pitchFamily="18" charset="0"/>
              </a:rPr>
              <a:t>D3.js, </a:t>
            </a:r>
            <a:r>
              <a:rPr lang="en-US" sz="2000" dirty="0" err="1">
                <a:latin typeface="Cambria" panose="02040503050406030204" pitchFamily="18" charset="0"/>
                <a:ea typeface="Cambria" panose="02040503050406030204" pitchFamily="18" charset="0"/>
              </a:rPr>
              <a:t>GoogleMaps</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API,Css</a:t>
            </a:r>
            <a:r>
              <a:rPr lang="en-US" sz="2000" dirty="0">
                <a:latin typeface="Cambria" panose="02040503050406030204" pitchFamily="18" charset="0"/>
                <a:ea typeface="Cambria" panose="02040503050406030204" pitchFamily="18" charset="0"/>
              </a:rPr>
              <a:t>, bootstrap,</a:t>
            </a:r>
            <a:r>
              <a:rPr lang="en-IN" sz="2000" dirty="0">
                <a:latin typeface="Cambria" panose="02040503050406030204" pitchFamily="18" charset="0"/>
                <a:ea typeface="Cambria" panose="02040503050406030204" pitchFamily="18" charset="0"/>
              </a:rPr>
              <a:t> HTML5 Web APIs, Firebase Cloud Messaging, JSON Web Tokens</a:t>
            </a:r>
            <a:endParaRPr lang="en-IN" sz="2000" b="1"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r>
              <a:rPr lang="en-IN" b="1" dirty="0">
                <a:latin typeface="Cambria" panose="02040503050406030204" pitchFamily="18" charset="0"/>
                <a:ea typeface="Cambria" panose="02040503050406030204" pitchFamily="18" charset="0"/>
              </a:rPr>
              <a:t>Backend</a:t>
            </a:r>
            <a:r>
              <a:rPr lang="en-IN"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Node.js,</a:t>
            </a:r>
            <a:r>
              <a:rPr lang="en-IN" sz="2000" dirty="0" err="1">
                <a:latin typeface="Cambria" panose="02040503050406030204" pitchFamily="18" charset="0"/>
                <a:ea typeface="Cambria" panose="02040503050406030204" pitchFamily="18" charset="0"/>
              </a:rPr>
              <a:t>MongoDB,Cassandra,MySQL</a:t>
            </a:r>
            <a:r>
              <a:rPr lang="en-IN" sz="2000"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rPr>
              <a:t>ApacheSpark,AmazonWeb</a:t>
            </a:r>
            <a:r>
              <a:rPr lang="en-IN" sz="2000" dirty="0">
                <a:latin typeface="Cambria" panose="02040503050406030204" pitchFamily="18" charset="0"/>
                <a:ea typeface="Cambria" panose="02040503050406030204" pitchFamily="18" charset="0"/>
              </a:rPr>
              <a:t> Services , </a:t>
            </a:r>
            <a:r>
              <a:rPr lang="en-IN" sz="2000" dirty="0" err="1">
                <a:latin typeface="Cambria" panose="02040503050406030204" pitchFamily="18" charset="0"/>
                <a:ea typeface="Cambria" panose="02040503050406030204" pitchFamily="18" charset="0"/>
              </a:rPr>
              <a:t>GraphQL</a:t>
            </a:r>
            <a:r>
              <a:rPr lang="en-IN" sz="2000" dirty="0">
                <a:latin typeface="Cambria" panose="02040503050406030204" pitchFamily="18" charset="0"/>
                <a:ea typeface="Cambria" panose="02040503050406030204" pitchFamily="18" charset="0"/>
              </a:rPr>
              <a:t>.</a:t>
            </a: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2200" dirty="0">
                <a:latin typeface="Cambria" panose="02040503050406030204" pitchFamily="18" charset="0"/>
                <a:ea typeface="Cambria" panose="02040503050406030204" pitchFamily="18" charset="0"/>
              </a:rPr>
              <a:t>.</a:t>
            </a:r>
          </a:p>
          <a:p>
            <a:pPr>
              <a:buFont typeface="Arial" panose="020B0604020202020204" pitchFamily="34" charset="0"/>
              <a:buChar char="•"/>
            </a:pPr>
            <a:endParaRPr lang="en-US" sz="2200" dirty="0">
              <a:latin typeface="Cambria" panose="02040503050406030204" pitchFamily="18" charset="0"/>
              <a:ea typeface="Cambria" panose="02040503050406030204" pitchFamily="18" charset="0"/>
            </a:endParaRPr>
          </a:p>
        </p:txBody>
      </p:sp>
      <p:sp>
        <p:nvSpPr>
          <p:cNvPr id="34" name="TextBox 33">
            <a:extLst>
              <a:ext uri="{FF2B5EF4-FFF2-40B4-BE49-F238E27FC236}">
                <a16:creationId xmlns:a16="http://schemas.microsoft.com/office/drawing/2014/main" id="{4D1AFFE5-B9CD-49E7-2A7E-8E74B9316542}"/>
              </a:ext>
            </a:extLst>
          </p:cNvPr>
          <p:cNvSpPr txBox="1"/>
          <p:nvPr/>
        </p:nvSpPr>
        <p:spPr>
          <a:xfrm>
            <a:off x="711200" y="1295400"/>
            <a:ext cx="10399486" cy="3046988"/>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Software Components</a:t>
            </a:r>
          </a:p>
          <a:p>
            <a:endParaRPr lang="en-IN" sz="24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Google Cloud</a:t>
            </a:r>
          </a:p>
          <a:p>
            <a:r>
              <a:rPr lang="en-IN" sz="2400" b="1" dirty="0">
                <a:latin typeface="Cambria" panose="02040503050406030204" pitchFamily="18" charset="0"/>
                <a:ea typeface="Cambria" panose="02040503050406030204" pitchFamily="18" charset="0"/>
              </a:rPr>
              <a:t>.</a:t>
            </a:r>
            <a:r>
              <a:rPr lang="en-IN" sz="3200" dirty="0"/>
              <a:t> </a:t>
            </a:r>
            <a:r>
              <a:rPr lang="en-IN" sz="2000" dirty="0">
                <a:latin typeface="Cambria" panose="02040503050406030204" pitchFamily="18" charset="0"/>
                <a:ea typeface="Cambria" panose="02040503050406030204" pitchFamily="18" charset="0"/>
              </a:rPr>
              <a:t>Power BI</a:t>
            </a:r>
            <a:endParaRPr lang="en-IN" sz="20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Oracle</a:t>
            </a:r>
            <a:endParaRPr lang="en-IN" sz="20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a:t>
            </a:r>
            <a:r>
              <a:rPr lang="en-IN" sz="3200" dirty="0"/>
              <a:t> </a:t>
            </a:r>
            <a:r>
              <a:rPr lang="en-IN" sz="2000" dirty="0">
                <a:latin typeface="Cambria" panose="02040503050406030204" pitchFamily="18" charset="0"/>
                <a:ea typeface="Cambria" panose="02040503050406030204" pitchFamily="18" charset="0"/>
              </a:rPr>
              <a:t>Blockchain Platforms</a:t>
            </a:r>
            <a:endParaRPr lang="en-IN" sz="20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a:t>
            </a:r>
            <a:r>
              <a:rPr lang="en-IN" sz="3200" dirty="0"/>
              <a:t> </a:t>
            </a:r>
            <a:r>
              <a:rPr lang="en-IN" sz="2000" dirty="0">
                <a:latin typeface="Cambria" panose="02040503050406030204" pitchFamily="18" charset="0"/>
                <a:ea typeface="Cambria" panose="02040503050406030204" pitchFamily="18" charset="0"/>
              </a:rPr>
              <a:t>Cloud Services</a:t>
            </a:r>
            <a:endParaRPr lang="en-IN" sz="2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a:t>
            </a:r>
            <a:endParaRPr dirty="0">
              <a:latin typeface="Cambria" panose="02040503050406030204" pitchFamily="18" charset="0"/>
              <a:ea typeface="Cambria" panose="02040503050406030204" pitchFamily="18" charset="0"/>
            </a:endParaRPr>
          </a:p>
        </p:txBody>
      </p:sp>
      <p:sp>
        <p:nvSpPr>
          <p:cNvPr id="5" name="Text Placeholder 4">
            <a:extLst>
              <a:ext uri="{FF2B5EF4-FFF2-40B4-BE49-F238E27FC236}">
                <a16:creationId xmlns:a16="http://schemas.microsoft.com/office/drawing/2014/main" id="{60DC13EF-358B-006E-7BEA-609470609775}"/>
              </a:ext>
            </a:extLst>
          </p:cNvPr>
          <p:cNvSpPr>
            <a:spLocks noGrp="1"/>
          </p:cNvSpPr>
          <p:nvPr>
            <p:ph type="body" idx="1"/>
          </p:nvPr>
        </p:nvSpPr>
        <p:spPr>
          <a:xfrm>
            <a:off x="990600" y="1230086"/>
            <a:ext cx="9622971" cy="4278085"/>
          </a:xfrm>
        </p:spPr>
        <p:txBody>
          <a:bodyPr/>
          <a:lstStyle/>
          <a:p>
            <a:endParaRPr lang="en-IN" dirty="0"/>
          </a:p>
        </p:txBody>
      </p:sp>
      <p:pic>
        <p:nvPicPr>
          <p:cNvPr id="24" name="table">
            <a:extLst>
              <a:ext uri="{FF2B5EF4-FFF2-40B4-BE49-F238E27FC236}">
                <a16:creationId xmlns:a16="http://schemas.microsoft.com/office/drawing/2014/main" id="{3191FD41-D6D2-F169-6CEC-F9E187AFF84D}"/>
              </a:ext>
            </a:extLst>
          </p:cNvPr>
          <p:cNvPicPr>
            <a:picLocks noChangeAspect="1"/>
          </p:cNvPicPr>
          <p:nvPr/>
        </p:nvPicPr>
        <p:blipFill>
          <a:blip r:embed="rId3"/>
          <a:stretch>
            <a:fillRect/>
          </a:stretch>
        </p:blipFill>
        <p:spPr>
          <a:xfrm>
            <a:off x="2236667" y="2291517"/>
            <a:ext cx="6064036" cy="227496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A3CCD-0C7C-7F44-8EED-967410F6C70D}"/>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GITHUB Link</a:t>
            </a:r>
          </a:p>
        </p:txBody>
      </p:sp>
      <p:sp>
        <p:nvSpPr>
          <p:cNvPr id="3" name="Text Placeholder 2">
            <a:extLst>
              <a:ext uri="{FF2B5EF4-FFF2-40B4-BE49-F238E27FC236}">
                <a16:creationId xmlns:a16="http://schemas.microsoft.com/office/drawing/2014/main" id="{E0EE4A0B-095A-DE9F-4A07-B881BF5B80B9}"/>
              </a:ext>
            </a:extLst>
          </p:cNvPr>
          <p:cNvSpPr>
            <a:spLocks noGrp="1"/>
          </p:cNvSpPr>
          <p:nvPr>
            <p:ph type="body" idx="1"/>
          </p:nvPr>
        </p:nvSpPr>
        <p:spPr/>
        <p:txBody>
          <a:bodyPr>
            <a:normAutofit/>
          </a:bodyPr>
          <a:lstStyle/>
          <a:p>
            <a:r>
              <a:rPr lang="en-IN" sz="2800" dirty="0">
                <a:solidFill>
                  <a:schemeClr val="accent1"/>
                </a:solidFill>
              </a:rPr>
              <a:t>https://github.com/Bramha2982/trackandtracesupplychain</a:t>
            </a:r>
          </a:p>
        </p:txBody>
      </p:sp>
    </p:spTree>
    <p:extLst>
      <p:ext uri="{BB962C8B-B14F-4D97-AF65-F5344CB8AC3E}">
        <p14:creationId xmlns:p14="http://schemas.microsoft.com/office/powerpoint/2010/main" val="1007599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3200"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en-US" dirty="0">
                <a:solidFill>
                  <a:schemeClr val="accent1"/>
                </a:solidFill>
                <a:latin typeface="Cambria" panose="02040503050406030204" pitchFamily="18" charset="0"/>
                <a:ea typeface="Cambria" panose="02040503050406030204" pitchFamily="18" charset="0"/>
                <a:hlinkClick r:id="rId3"/>
              </a:rPr>
              <a:t>https://www.sciencedirect.com/science/article/pii/S2212827122015049</a:t>
            </a: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r>
              <a:rPr lang="en-US" dirty="0">
                <a:solidFill>
                  <a:schemeClr val="tx1"/>
                </a:solidFill>
                <a:latin typeface="Cambria" panose="02040503050406030204" pitchFamily="18" charset="0"/>
                <a:ea typeface="Cambria" panose="02040503050406030204" pitchFamily="18" charset="0"/>
              </a:rPr>
              <a:t>. </a:t>
            </a:r>
            <a:r>
              <a:rPr lang="en-US" dirty="0">
                <a:solidFill>
                  <a:schemeClr val="accent1"/>
                </a:solidFill>
                <a:latin typeface="Cambria" panose="02040503050406030204" pitchFamily="18" charset="0"/>
                <a:ea typeface="Cambria" panose="02040503050406030204" pitchFamily="18" charset="0"/>
                <a:hlinkClick r:id="rId4"/>
              </a:rPr>
              <a:t>https://www.scitepress.org/Papers/2021/105154/105154.pdf</a:t>
            </a: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r>
              <a:rPr lang="en-US" dirty="0">
                <a:solidFill>
                  <a:schemeClr val="accent1"/>
                </a:solidFill>
                <a:latin typeface="Cambria" panose="02040503050406030204" pitchFamily="18" charset="0"/>
                <a:ea typeface="Cambria" panose="02040503050406030204" pitchFamily="18" charset="0"/>
              </a:rPr>
              <a:t> </a:t>
            </a:r>
            <a:r>
              <a:rPr lang="en-US" dirty="0">
                <a:solidFill>
                  <a:schemeClr val="tx1"/>
                </a:solidFill>
                <a:latin typeface="Cambria" panose="02040503050406030204" pitchFamily="18" charset="0"/>
                <a:ea typeface="Cambria" panose="02040503050406030204" pitchFamily="18" charset="0"/>
              </a:rPr>
              <a:t>.</a:t>
            </a:r>
            <a:r>
              <a:rPr lang="en-US" dirty="0">
                <a:solidFill>
                  <a:schemeClr val="accent1"/>
                </a:solidFill>
                <a:latin typeface="Cambria" panose="02040503050406030204" pitchFamily="18" charset="0"/>
                <a:ea typeface="Cambria" panose="02040503050406030204" pitchFamily="18" charset="0"/>
                <a:hlinkClick r:id="rId5"/>
              </a:rPr>
              <a:t>https://www.researchgate.net/publication/275834182_Tracking_and_Tracing_of_Global_Supply_Chain_Network_Case_Study_from_a_Finnish_Company</a:t>
            </a: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r>
              <a:rPr lang="en-US" dirty="0">
                <a:solidFill>
                  <a:schemeClr val="tx1"/>
                </a:solidFill>
                <a:latin typeface="Cambria" panose="02040503050406030204" pitchFamily="18" charset="0"/>
                <a:ea typeface="Cambria" panose="02040503050406030204" pitchFamily="18" charset="0"/>
              </a:rPr>
              <a:t>. </a:t>
            </a:r>
            <a:r>
              <a:rPr lang="en-US" dirty="0">
                <a:solidFill>
                  <a:schemeClr val="accent1"/>
                </a:solidFill>
                <a:latin typeface="Cambria" panose="02040503050406030204" pitchFamily="18" charset="0"/>
                <a:ea typeface="Cambria" panose="02040503050406030204" pitchFamily="18" charset="0"/>
                <a:hlinkClick r:id="rId6"/>
              </a:rPr>
              <a:t>https://developer.dhl.com/api-reference/track-and-trace-supply-chain?language_content_entity=en</a:t>
            </a: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endParaRPr lang="en-US" dirty="0">
              <a:solidFill>
                <a:schemeClr val="accent1"/>
              </a:solidFill>
              <a:latin typeface="Cambria" panose="02040503050406030204" pitchFamily="18" charset="0"/>
              <a:ea typeface="Cambria" panose="02040503050406030204" pitchFamily="18" charset="0"/>
            </a:endParaRPr>
          </a:p>
          <a:p>
            <a:pPr marL="152400" indent="0">
              <a:spcBef>
                <a:spcPts val="0"/>
              </a:spcBef>
              <a:buNone/>
            </a:pPr>
            <a:r>
              <a:rPr lang="en-US" dirty="0">
                <a:solidFill>
                  <a:schemeClr val="tx1"/>
                </a:solidFill>
                <a:latin typeface="Cambria" panose="02040503050406030204" pitchFamily="18" charset="0"/>
                <a:ea typeface="Cambria" panose="02040503050406030204" pitchFamily="18"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543</TotalTime>
  <Words>589</Words>
  <Application>Microsoft Office PowerPoint</Application>
  <PresentationFormat>Widescreen</PresentationFormat>
  <Paragraphs>66</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vt:lpstr>
      <vt:lpstr>Verdana</vt:lpstr>
      <vt:lpstr>Wingdings</vt:lpstr>
      <vt:lpstr>Bioinformatics</vt:lpstr>
      <vt:lpstr>TRACK AND TRACE SUPPLY CHAIN</vt:lpstr>
      <vt:lpstr>Content</vt:lpstr>
      <vt:lpstr>Problem Statement Number: PSCS92</vt:lpstr>
      <vt:lpstr>Analysis of Problem Statement</vt:lpstr>
      <vt:lpstr>Analysis of Problem Statement (contd...)</vt:lpstr>
      <vt:lpstr>Analysis of Problem Statement (contd...)</vt:lpstr>
      <vt:lpstr>Timeline of the Project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yaswanth ram</cp:lastModifiedBy>
  <cp:revision>51</cp:revision>
  <dcterms:modified xsi:type="dcterms:W3CDTF">2024-09-16T17:00:55Z</dcterms:modified>
</cp:coreProperties>
</file>