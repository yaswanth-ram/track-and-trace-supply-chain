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7" r:id="rId3"/>
    <p:sldId id="258" r:id="rId4"/>
    <p:sldId id="279" r:id="rId5"/>
    <p:sldId id="280" r:id="rId6"/>
    <p:sldId id="281" r:id="rId7"/>
    <p:sldId id="276" r:id="rId8"/>
    <p:sldId id="259" r:id="rId9"/>
    <p:sldId id="260" r:id="rId10"/>
    <p:sldId id="261" r:id="rId11"/>
    <p:sldId id="278" r:id="rId12"/>
    <p:sldId id="275" r:id="rId13"/>
    <p:sldId id="277" r:id="rId14"/>
    <p:sldId id="262" r:id="rId15"/>
    <p:sldId id="263" r:id="rId16"/>
    <p:sldId id="264" r:id="rId17"/>
    <p:sldId id="268" r:id="rId18"/>
    <p:sldId id="265" r:id="rId19"/>
    <p:sldId id="282" r:id="rId20"/>
    <p:sldId id="283" r:id="rId21"/>
    <p:sldId id="284" r:id="rId22"/>
    <p:sldId id="274" r:id="rId23"/>
    <p:sldId id="26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63" d="100"/>
          <a:sy n="63" d="100"/>
        </p:scale>
        <p:origin x="78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8AD288-E15B-4271-B55D-DDB1B43DC8BE}" type="datetimeFigureOut">
              <a:rPr lang="en-IN" smtClean="0"/>
              <a:t>24-10-2024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EC8B7-7AE0-485D-8CE3-A3E29B97A364}" type="slidenum">
              <a:rPr lang="en-IN" smtClean="0"/>
              <a:t>‹#›</a:t>
            </a:fld>
            <a:endParaRPr lang="en-IN"/>
          </a:p>
        </p:txBody>
      </p:sp>
    </p:spTree>
    <p:extLst>
      <p:ext uri="{BB962C8B-B14F-4D97-AF65-F5344CB8AC3E}">
        <p14:creationId xmlns:p14="http://schemas.microsoft.com/office/powerpoint/2010/main" val="1146367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0877" y="1322386"/>
            <a:ext cx="10363200" cy="1470025"/>
          </a:xfrm>
        </p:spPr>
        <p:txBody>
          <a:bodyPr/>
          <a:lstStyle>
            <a:lvl1pPr>
              <a:defRPr>
                <a:solidFill>
                  <a:schemeClr val="tx2">
                    <a:lumMod val="75000"/>
                  </a:schemeClr>
                </a:solidFill>
              </a:defRPr>
            </a:lvl1pPr>
          </a:lstStyle>
          <a:p>
            <a:r>
              <a:rPr lang="en-US"/>
              <a:t>Click to edit Master title style</a:t>
            </a:r>
          </a:p>
        </p:txBody>
      </p:sp>
      <p:sp>
        <p:nvSpPr>
          <p:cNvPr id="3" name="Subtitle 2"/>
          <p:cNvSpPr>
            <a:spLocks noGrp="1"/>
          </p:cNvSpPr>
          <p:nvPr>
            <p:ph type="subTitle" idx="1"/>
          </p:nvPr>
        </p:nvSpPr>
        <p:spPr>
          <a:xfrm>
            <a:off x="2032000" y="3326641"/>
            <a:ext cx="8534400" cy="1752600"/>
          </a:xfrm>
        </p:spPr>
        <p:txBody>
          <a:bodyPr>
            <a:normAutofit/>
          </a:bodyPr>
          <a:lstStyle>
            <a:lvl1pPr marL="0" indent="0" algn="ctr">
              <a:buNone/>
              <a:defRPr sz="20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4CE30-7D40-4BC0-BA0D-56C992D5B4BD}" type="datetimeFigureOut">
              <a:rPr lang="en-GB" smtClean="0"/>
              <a:t>24/10/2024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16799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24/10/2024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190914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94CE30-7D40-4BC0-BA0D-56C992D5B4BD}" type="datetimeFigureOut">
              <a:rPr lang="en-GB" smtClean="0"/>
              <a:t>24/10/2024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40641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94CE30-7D40-4BC0-BA0D-56C992D5B4BD}" type="datetimeFigureOut">
              <a:rPr lang="en-GB" smtClean="0"/>
              <a:t>24/10/2024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738786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9368" y="304800"/>
            <a:ext cx="10668000" cy="487362"/>
          </a:xfrm>
        </p:spPr>
        <p:txBody>
          <a:bodyPr/>
          <a:lstStyle>
            <a:lvl1pPr>
              <a:defRPr>
                <a:solidFill>
                  <a:srgbClr val="FF0000"/>
                </a:solidFill>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94CE30-7D40-4BC0-BA0D-56C992D5B4BD}" type="datetimeFigureOut">
              <a:rPr lang="en-GB" smtClean="0"/>
              <a:t>24/10/2024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0163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60800" y="274638"/>
            <a:ext cx="7721600" cy="48736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4994CE30-7D40-4BC0-BA0D-56C992D5B4BD}" type="datetimeFigureOut">
              <a:rPr lang="en-GB" smtClean="0"/>
              <a:t>24/10/2024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CD3F7E-62B3-4FB9-95CE-D1B0CC271B85}" type="slidenum">
              <a:rPr lang="en-GB" smtClean="0"/>
              <a:t>‹#›</a:t>
            </a:fld>
            <a:endParaRPr lang="en-GB"/>
          </a:p>
        </p:txBody>
      </p:sp>
      <p:pic>
        <p:nvPicPr>
          <p:cNvPr id="2051" name="Picture 3" descr="C:\Users\AMMU\Desktop\Bord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5209" y="139874"/>
            <a:ext cx="9686793" cy="69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022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4CE30-7D40-4BC0-BA0D-56C992D5B4BD}" type="datetimeFigureOut">
              <a:rPr lang="en-GB" smtClean="0"/>
              <a:t>24/10/2024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24971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24/10/2024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52156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24/10/2024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874595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24/10/2024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9626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24/10/2024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7830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274638"/>
            <a:ext cx="10668000" cy="4873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12800" y="1143001"/>
            <a:ext cx="10668000" cy="49529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Verdana" pitchFamily="34" charset="0"/>
                <a:ea typeface="Verdana" pitchFamily="34" charset="0"/>
                <a:cs typeface="Verdana" pitchFamily="34" charset="0"/>
              </a:defRPr>
            </a:lvl1pPr>
          </a:lstStyle>
          <a:p>
            <a:fld id="{4994CE30-7D40-4BC0-BA0D-56C992D5B4BD}" type="datetimeFigureOut">
              <a:rPr lang="en-GB" smtClean="0"/>
              <a:t>24/10/2024</a:t>
            </a:fld>
            <a:endParaRPr lang="en-GB"/>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Verdana" pitchFamily="34" charset="0"/>
                <a:ea typeface="Verdana" pitchFamily="34" charset="0"/>
                <a:cs typeface="Verdana" pitchFamily="34" charset="0"/>
              </a:defRPr>
            </a:lvl1pPr>
          </a:lstStyle>
          <a:p>
            <a:endParaRPr lang="en-GB"/>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Verdana" pitchFamily="34" charset="0"/>
                <a:ea typeface="Verdana" pitchFamily="34" charset="0"/>
                <a:cs typeface="Verdana" pitchFamily="34" charset="0"/>
              </a:defRPr>
            </a:lvl1pPr>
          </a:lstStyle>
          <a:p>
            <a:fld id="{1BCD3F7E-62B3-4FB9-95CE-D1B0CC271B85}" type="slidenum">
              <a:rPr lang="en-GB" smtClean="0"/>
              <a:t>‹#›</a:t>
            </a:fld>
            <a:endParaRPr lang="en-GB"/>
          </a:p>
        </p:txBody>
      </p:sp>
      <p:sp>
        <p:nvSpPr>
          <p:cNvPr id="8" name="Line 6">
            <a:extLst>
              <a:ext uri="{FF2B5EF4-FFF2-40B4-BE49-F238E27FC236}">
                <a16:creationId xmlns:a16="http://schemas.microsoft.com/office/drawing/2014/main" id="{3F0EAE8F-8B4C-436F-93E6-DF250930561C}"/>
              </a:ext>
            </a:extLst>
          </p:cNvPr>
          <p:cNvSpPr>
            <a:spLocks noChangeShapeType="1"/>
          </p:cNvSpPr>
          <p:nvPr/>
        </p:nvSpPr>
        <p:spPr bwMode="auto">
          <a:xfrm>
            <a:off x="812800" y="914400"/>
            <a:ext cx="10668000" cy="0"/>
          </a:xfrm>
          <a:prstGeom prst="line">
            <a:avLst/>
          </a:prstGeom>
          <a:noFill/>
          <a:ln w="57150" cmpd="thickThin">
            <a:solidFill>
              <a:schemeClr val="tx1"/>
            </a:solidFill>
            <a:round/>
            <a:headEnd/>
            <a:tailEnd/>
          </a:ln>
          <a:effectLst/>
        </p:spPr>
        <p:txBody>
          <a:bodyPr/>
          <a:lstStyle/>
          <a:p>
            <a:pPr>
              <a:defRPr/>
            </a:pPr>
            <a:endParaRPr lang="en-IN" sz="1800"/>
          </a:p>
        </p:txBody>
      </p:sp>
      <p:pic>
        <p:nvPicPr>
          <p:cNvPr id="7" name="Picture 7">
            <a:extLst>
              <a:ext uri="{FF2B5EF4-FFF2-40B4-BE49-F238E27FC236}">
                <a16:creationId xmlns:a16="http://schemas.microsoft.com/office/drawing/2014/main" id="{F5847C07-33FE-4652-A9FD-CD40E657B784}"/>
              </a:ext>
            </a:extLst>
          </p:cNvPr>
          <p:cNvPicPr>
            <a:picLocks noChangeAspect="1"/>
          </p:cNvPicPr>
          <p:nvPr/>
        </p:nvPicPr>
        <p:blipFill rotWithShape="1">
          <a:blip r:embed="rId13">
            <a:extLst>
              <a:ext uri="{28A0092B-C50C-407E-A947-70E740481C1C}">
                <a14:useLocalDpi xmlns:a14="http://schemas.microsoft.com/office/drawing/2010/main" val="0"/>
              </a:ext>
            </a:extLst>
          </a:blip>
          <a:srcRect b="18045"/>
          <a:stretch/>
        </p:blipFill>
        <p:spPr bwMode="auto">
          <a:xfrm>
            <a:off x="0" y="5991366"/>
            <a:ext cx="12192000" cy="86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4840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b="1" kern="1200">
          <a:solidFill>
            <a:srgbClr val="FF0000"/>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Bramha2982/trackandtracesupplychai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sciencedirect.com/science/article/pii/S0040162521001499?via%3Dihub" TargetMode="External"/><Relationship Id="rId2" Type="http://schemas.openxmlformats.org/officeDocument/2006/relationships/hyperlink" Target="https://ieeexplore.ieee.org/abstract/document/10529266" TargetMode="External"/><Relationship Id="rId1" Type="http://schemas.openxmlformats.org/officeDocument/2006/relationships/slideLayout" Target="../slideLayouts/slideLayout2.xml"/><Relationship Id="rId6" Type="http://schemas.openxmlformats.org/officeDocument/2006/relationships/hyperlink" Target="https://www.sciencedirect.com/science/article/abs/pii/S0925527319303184" TargetMode="External"/><Relationship Id="rId5" Type="http://schemas.openxmlformats.org/officeDocument/2006/relationships/hyperlink" Target="https://www.sciencedirect.com/science/article/pii/S0925527322002018" TargetMode="External"/><Relationship Id="rId4" Type="http://schemas.openxmlformats.org/officeDocument/2006/relationships/hyperlink" Target="https://www.forbes.com/sites/barrycollins/2021/05/15/apple-airtag-a-brilliant-car-tracker-as-"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sciencedirect.com/science/article/abs/pii/S0736584518306665" TargetMode="External"/><Relationship Id="rId2" Type="http://schemas.openxmlformats.org/officeDocument/2006/relationships/hyperlink" Target="https://www.sciencedirect.com/science/article/abs/pii/S0160791X22001117" TargetMode="External"/><Relationship Id="rId1" Type="http://schemas.openxmlformats.org/officeDocument/2006/relationships/slideLayout" Target="../slideLayouts/slideLayout7.xml"/><Relationship Id="rId6" Type="http://schemas.openxmlformats.org/officeDocument/2006/relationships/hyperlink" Target="https://www.sciencedirect.com/science/article/abs/pii/S0959652620341068" TargetMode="External"/><Relationship Id="rId5" Type="http://schemas.openxmlformats.org/officeDocument/2006/relationships/hyperlink" Target="https://www.sciencedirect.com/science/article/abs/pii/S0377221720300941" TargetMode="External"/><Relationship Id="rId4" Type="http://schemas.openxmlformats.org/officeDocument/2006/relationships/hyperlink" Target="https://www.sciencedirect.com/science/article/pii/S0160791X22001920"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ieeexplore.ieee.org/abstract/document/8943216" TargetMode="External"/><Relationship Id="rId2" Type="http://schemas.openxmlformats.org/officeDocument/2006/relationships/hyperlink" Target="https://www.sciencedirect.com/science/article/abs/pii/S0959652620310787" TargetMode="External"/><Relationship Id="rId1" Type="http://schemas.openxmlformats.org/officeDocument/2006/relationships/slideLayout" Target="../slideLayouts/slideLayout7.xml"/><Relationship Id="rId6" Type="http://schemas.openxmlformats.org/officeDocument/2006/relationships/hyperlink" Target="https://www.sciencedirect.com/science/article/abs/pii/S0048969720316909" TargetMode="External"/><Relationship Id="rId5" Type="http://schemas.openxmlformats.org/officeDocument/2006/relationships/hyperlink" Target="https://www.emerald.com/insight/content/doi/10.1108/IJOPM-09-2024-992/full/html#sec001" TargetMode="External"/><Relationship Id="rId4" Type="http://schemas.openxmlformats.org/officeDocument/2006/relationships/hyperlink" Target="https://mdpi.com/2071-1050/13/15/8331"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yyf.tgdaddy.com/4xj4748_9nqeutquamlrqhluzxfmse/8jiiqsmeohk/5prvjygg/5prjuswj/7hzhjsnqwp/5preuxwj/MSARR-2024-0081.pdf" TargetMode="External"/><Relationship Id="rId2" Type="http://schemas.openxmlformats.org/officeDocument/2006/relationships/hyperlink" Target="https://csrc.nist.gov/pubs/ir/8419/final" TargetMode="External"/><Relationship Id="rId1" Type="http://schemas.openxmlformats.org/officeDocument/2006/relationships/slideLayout" Target="../slideLayouts/slideLayout7.xml"/><Relationship Id="rId6" Type="http://schemas.openxmlformats.org/officeDocument/2006/relationships/hyperlink" Target="https://www.mdpi.com/2071-1050/13/8/4151" TargetMode="External"/><Relationship Id="rId5" Type="http://schemas.openxmlformats.org/officeDocument/2006/relationships/hyperlink" Target="https://www.mdpi.com/2071-1050/14/11/6666" TargetMode="External"/><Relationship Id="rId4" Type="http://schemas.openxmlformats.org/officeDocument/2006/relationships/hyperlink" Target="https://www.mdpi.com/1424-8220/23/11/5342"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IN" dirty="0">
                <a:solidFill>
                  <a:schemeClr val="tx1"/>
                </a:solidFill>
                <a:latin typeface="Cambria" panose="02040503050406030204" pitchFamily="18" charset="0"/>
                <a:ea typeface="Cambria" panose="02040503050406030204" pitchFamily="18" charset="0"/>
              </a:rPr>
              <a:t>TRACK AND TRACE SUPPLY CHAIN</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9" y="2100770"/>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nvGraphicFramePr>
        <p:xfrm>
          <a:off x="553347" y="2721840"/>
          <a:ext cx="5418675" cy="2194620"/>
        </p:xfrm>
        <a:graphic>
          <a:graphicData uri="http://schemas.openxmlformats.org/drawingml/2006/table">
            <a:tbl>
              <a:tblPr firstRow="1" bandRow="1">
                <a:noFill/>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Ms.</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Ayesha </a:t>
            </a:r>
            <a:r>
              <a:rPr lang="en-GB" sz="18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Taranum</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PIP2001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Computer Science and Engineering(CSE)</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a:solidFill>
                  <a:schemeClr val="tx1"/>
                </a:solidFill>
                <a:latin typeface="Cambria" panose="02040503050406030204" pitchFamily="18" charset="0"/>
                <a:ea typeface="Cambria" panose="02040503050406030204" pitchFamily="18" charset="0"/>
                <a:cs typeface="Verdana"/>
                <a:sym typeface="Verdana"/>
              </a:rPr>
              <a:t>Dr. Asif Mohammed</a:t>
            </a:r>
            <a:endParaRPr lang="en-US" sz="2000" b="1"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Mr. Amarnath J L</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Abdul Khadar A / Mr. Md Ziaur Rahman</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3" name="TextBox 2">
            <a:extLst>
              <a:ext uri="{FF2B5EF4-FFF2-40B4-BE49-F238E27FC236}">
                <a16:creationId xmlns:a16="http://schemas.microsoft.com/office/drawing/2014/main" id="{003181FB-AB9B-D8D4-1218-628E6CA5BA49}"/>
              </a:ext>
            </a:extLst>
          </p:cNvPr>
          <p:cNvSpPr txBox="1"/>
          <p:nvPr/>
        </p:nvSpPr>
        <p:spPr>
          <a:xfrm>
            <a:off x="2701906" y="2124721"/>
            <a:ext cx="6162040" cy="369332"/>
          </a:xfrm>
          <a:prstGeom prst="rect">
            <a:avLst/>
          </a:prstGeom>
          <a:noFill/>
        </p:spPr>
        <p:txBody>
          <a:bodyPr wrap="square">
            <a:sp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29</a:t>
            </a:r>
          </a:p>
        </p:txBody>
      </p:sp>
      <p:graphicFrame>
        <p:nvGraphicFramePr>
          <p:cNvPr id="5" name="Table 4">
            <a:extLst>
              <a:ext uri="{FF2B5EF4-FFF2-40B4-BE49-F238E27FC236}">
                <a16:creationId xmlns:a16="http://schemas.microsoft.com/office/drawing/2014/main" id="{1ED6ECA8-7A7E-D3E2-8505-1DBD27DBE58B}"/>
              </a:ext>
            </a:extLst>
          </p:cNvPr>
          <p:cNvGraphicFramePr>
            <a:graphicFrameLocks noGrp="1"/>
          </p:cNvGraphicFramePr>
          <p:nvPr>
            <p:extLst>
              <p:ext uri="{D42A27DB-BD31-4B8C-83A1-F6EECF244321}">
                <p14:modId xmlns:p14="http://schemas.microsoft.com/office/powerpoint/2010/main" val="2484775571"/>
              </p:ext>
            </p:extLst>
          </p:nvPr>
        </p:nvGraphicFramePr>
        <p:xfrm>
          <a:off x="573665" y="2586775"/>
          <a:ext cx="5877935" cy="2041037"/>
        </p:xfrm>
        <a:graphic>
          <a:graphicData uri="http://schemas.openxmlformats.org/drawingml/2006/table">
            <a:tbl>
              <a:tblPr firstRow="1" bandRow="1">
                <a:tableStyleId>{5940675A-B579-460E-94D1-54222C63F5DA}</a:tableStyleId>
              </a:tblPr>
              <a:tblGrid>
                <a:gridCol w="2332095">
                  <a:extLst>
                    <a:ext uri="{9D8B030D-6E8A-4147-A177-3AD203B41FA5}">
                      <a16:colId xmlns:a16="http://schemas.microsoft.com/office/drawing/2014/main" val="711297299"/>
                    </a:ext>
                  </a:extLst>
                </a:gridCol>
                <a:gridCol w="3545840">
                  <a:extLst>
                    <a:ext uri="{9D8B030D-6E8A-4147-A177-3AD203B41FA5}">
                      <a16:colId xmlns:a16="http://schemas.microsoft.com/office/drawing/2014/main" val="45046305"/>
                    </a:ext>
                  </a:extLst>
                </a:gridCol>
              </a:tblGrid>
              <a:tr h="430745">
                <a:tc>
                  <a:txBody>
                    <a:bodyPr/>
                    <a:lstStyle/>
                    <a:p>
                      <a:endParaRPr lang="en-IN" dirty="0"/>
                    </a:p>
                  </a:txBody>
                  <a:tcPr/>
                </a:tc>
                <a:tc>
                  <a:txBody>
                    <a:bodyPr/>
                    <a:lstStyle/>
                    <a:p>
                      <a:endParaRPr lang="en-IN"/>
                    </a:p>
                  </a:txBody>
                  <a:tcPr/>
                </a:tc>
                <a:extLst>
                  <a:ext uri="{0D108BD9-81ED-4DB2-BD59-A6C34878D82A}">
                    <a16:rowId xmlns:a16="http://schemas.microsoft.com/office/drawing/2014/main" val="2251244711"/>
                  </a:ext>
                </a:extLst>
              </a:tr>
              <a:tr h="402573">
                <a:tc>
                  <a:txBody>
                    <a:bodyPr/>
                    <a:lstStyle/>
                    <a:p>
                      <a:r>
                        <a:rPr lang="en-US" b="0" dirty="0"/>
                        <a:t>20211CSE0148</a:t>
                      </a:r>
                      <a:endParaRPr lang="en-IN" b="0" dirty="0"/>
                    </a:p>
                  </a:txBody>
                  <a:tcPr/>
                </a:tc>
                <a:tc>
                  <a:txBody>
                    <a:bodyPr/>
                    <a:lstStyle/>
                    <a:p>
                      <a:r>
                        <a:rPr lang="en-US" b="0" dirty="0"/>
                        <a:t>K V BRAMHANANDA REDDY</a:t>
                      </a:r>
                      <a:endParaRPr lang="en-IN" b="0" dirty="0"/>
                    </a:p>
                  </a:txBody>
                  <a:tcPr/>
                </a:tc>
                <a:extLst>
                  <a:ext uri="{0D108BD9-81ED-4DB2-BD59-A6C34878D82A}">
                    <a16:rowId xmlns:a16="http://schemas.microsoft.com/office/drawing/2014/main" val="4018156557"/>
                  </a:ext>
                </a:extLst>
              </a:tr>
              <a:tr h="402573">
                <a:tc>
                  <a:txBody>
                    <a:bodyPr/>
                    <a:lstStyle/>
                    <a:p>
                      <a:r>
                        <a:rPr lang="en-US" b="0" dirty="0"/>
                        <a:t>20211CSE0093</a:t>
                      </a:r>
                      <a:endParaRPr lang="en-IN" b="0" dirty="0"/>
                    </a:p>
                  </a:txBody>
                  <a:tcPr/>
                </a:tc>
                <a:tc>
                  <a:txBody>
                    <a:bodyPr/>
                    <a:lstStyle/>
                    <a:p>
                      <a:r>
                        <a:rPr lang="en-US" b="0" dirty="0"/>
                        <a:t>THOTA YASWANTH RAM</a:t>
                      </a:r>
                      <a:endParaRPr lang="en-IN" b="0" dirty="0"/>
                    </a:p>
                  </a:txBody>
                  <a:tcPr/>
                </a:tc>
                <a:extLst>
                  <a:ext uri="{0D108BD9-81ED-4DB2-BD59-A6C34878D82A}">
                    <a16:rowId xmlns:a16="http://schemas.microsoft.com/office/drawing/2014/main" val="107384391"/>
                  </a:ext>
                </a:extLst>
              </a:tr>
              <a:tr h="402573">
                <a:tc>
                  <a:txBody>
                    <a:bodyPr/>
                    <a:lstStyle/>
                    <a:p>
                      <a:r>
                        <a:rPr lang="en-US" b="0" dirty="0"/>
                        <a:t>20211CSE0097</a:t>
                      </a:r>
                      <a:endParaRPr lang="en-IN" b="0" dirty="0"/>
                    </a:p>
                  </a:txBody>
                  <a:tcPr/>
                </a:tc>
                <a:tc>
                  <a:txBody>
                    <a:bodyPr/>
                    <a:lstStyle/>
                    <a:p>
                      <a:r>
                        <a:rPr lang="en-US" b="0" dirty="0"/>
                        <a:t>KUMMARA CHARAN SAI</a:t>
                      </a:r>
                      <a:endParaRPr lang="en-IN" b="0" dirty="0"/>
                    </a:p>
                  </a:txBody>
                  <a:tcPr/>
                </a:tc>
                <a:extLst>
                  <a:ext uri="{0D108BD9-81ED-4DB2-BD59-A6C34878D82A}">
                    <a16:rowId xmlns:a16="http://schemas.microsoft.com/office/drawing/2014/main" val="722418019"/>
                  </a:ext>
                </a:extLst>
              </a:tr>
              <a:tr h="402573">
                <a:tc>
                  <a:txBody>
                    <a:bodyPr/>
                    <a:lstStyle/>
                    <a:p>
                      <a:r>
                        <a:rPr lang="en-US" b="0" dirty="0"/>
                        <a:t>20211CSE0121</a:t>
                      </a:r>
                      <a:endParaRPr lang="en-IN" b="0" dirty="0"/>
                    </a:p>
                  </a:txBody>
                  <a:tcPr/>
                </a:tc>
                <a:tc>
                  <a:txBody>
                    <a:bodyPr/>
                    <a:lstStyle/>
                    <a:p>
                      <a:r>
                        <a:rPr lang="en-US" b="0" dirty="0"/>
                        <a:t>D GURUVARDHAN REDDY</a:t>
                      </a:r>
                      <a:endParaRPr lang="en-IN" b="0" dirty="0"/>
                    </a:p>
                  </a:txBody>
                  <a:tcPr/>
                </a:tc>
                <a:extLst>
                  <a:ext uri="{0D108BD9-81ED-4DB2-BD59-A6C34878D82A}">
                    <a16:rowId xmlns:a16="http://schemas.microsoft.com/office/drawing/2014/main" val="3308615069"/>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p:txBody>
          <a:bodyPr/>
          <a:lstStyle/>
          <a:p>
            <a:pPr marL="0" indent="0">
              <a:buNone/>
            </a:pPr>
            <a:r>
              <a:rPr lang="en-US" sz="2200" dirty="0">
                <a:latin typeface="Cambria" panose="02040503050406030204" pitchFamily="18" charset="0"/>
                <a:ea typeface="Cambria" panose="02040503050406030204" pitchFamily="18" charset="0"/>
              </a:rPr>
              <a:t>Track and trace in the supply chain is a comprehensive system designed to monitor and record the movement of products through every step of the supply chain. This process begins at the origin of raw materials, continues through manufacturing and distribution, and ends when the product reaches the final consumer. It ensures that every stage is logged and traceable, allowing for complete transparency and control.</a:t>
            </a:r>
          </a:p>
          <a:p>
            <a:pPr>
              <a:buFont typeface="Wingdings" panose="05000000000000000000" pitchFamily="2" charset="2"/>
              <a:buChar char="Ø"/>
            </a:pPr>
            <a:r>
              <a:rPr lang="en-US" sz="2200" dirty="0">
                <a:latin typeface="Cambria" panose="02040503050406030204" pitchFamily="18" charset="0"/>
                <a:ea typeface="Cambria" panose="02040503050406030204" pitchFamily="18" charset="0"/>
              </a:rPr>
              <a:t>The primary goal of track and trace systems is to enhance visibility into the supply chain, ensuring that businesses can respond swiftly to issues such as product recalls, delays, and inventory shortages</a:t>
            </a:r>
          </a:p>
          <a:p>
            <a:pPr>
              <a:buFont typeface="Wingdings" panose="05000000000000000000" pitchFamily="2" charset="2"/>
              <a:buChar char="Ø"/>
            </a:pPr>
            <a:r>
              <a:rPr lang="en-US" sz="2200" dirty="0">
                <a:latin typeface="Cambria" panose="02040503050406030204" pitchFamily="18" charset="0"/>
                <a:ea typeface="Cambria" panose="02040503050406030204" pitchFamily="18" charset="0"/>
              </a:rPr>
              <a:t>Common technologies include RFID (Radio Frequency Identification), GPS (Global Positioning System), and blockchain, which enhance data accuracy and security.</a:t>
            </a:r>
          </a:p>
          <a:p>
            <a:pPr>
              <a:buFont typeface="Wingdings" panose="05000000000000000000" pitchFamily="2" charset="2"/>
              <a:buChar char="Ø"/>
            </a:pPr>
            <a:r>
              <a:rPr lang="en-US" sz="2200" dirty="0">
                <a:latin typeface="Cambria" panose="02040503050406030204" pitchFamily="18" charset="0"/>
                <a:ea typeface="Cambria" panose="02040503050406030204" pitchFamily="18" charset="0"/>
              </a:rPr>
              <a:t>These systems help businesses improve logistics efficiency, reduce operational costs, and respond quickly to any disruptions or delays.</a:t>
            </a:r>
          </a:p>
          <a:p>
            <a:pPr marL="0" indent="0">
              <a:buNone/>
            </a:pPr>
            <a:endParaRPr lang="en-GB"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33487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a:t>
            </a:r>
          </a:p>
        </p:txBody>
      </p:sp>
      <p:sp>
        <p:nvSpPr>
          <p:cNvPr id="3" name="Content Placeholder 2"/>
          <p:cNvSpPr>
            <a:spLocks noGrp="1"/>
          </p:cNvSpPr>
          <p:nvPr>
            <p:ph idx="1"/>
          </p:nvPr>
        </p:nvSpPr>
        <p:spPr/>
        <p:txBody>
          <a:bodyPr>
            <a:normAutofit/>
          </a:bodyPr>
          <a:lstStyle/>
          <a:p>
            <a:pPr algn="l"/>
            <a:endParaRPr lang="en-US" sz="900" b="0" i="0" dirty="0">
              <a:solidFill>
                <a:srgbClr val="000000"/>
              </a:solidFill>
              <a:effectLst/>
              <a:latin typeface="ff7"/>
            </a:endParaRPr>
          </a:p>
          <a:p>
            <a:pPr algn="l">
              <a:buFont typeface="Wingdings" panose="05000000000000000000" pitchFamily="2" charset="2"/>
              <a:buChar char="Ø"/>
            </a:pPr>
            <a:endParaRPr lang="en-US" sz="1050" b="1" i="0" dirty="0">
              <a:solidFill>
                <a:srgbClr val="000000"/>
              </a:solidFill>
              <a:effectLst/>
              <a:latin typeface="ff7"/>
            </a:endParaRPr>
          </a:p>
          <a:p>
            <a:pPr algn="l">
              <a:buFont typeface="Wingdings" panose="05000000000000000000" pitchFamily="2" charset="2"/>
              <a:buChar char="Ø"/>
            </a:pPr>
            <a:endParaRPr lang="en-IN" sz="1200" b="1" i="0" dirty="0">
              <a:effectLst/>
              <a:latin typeface="ff1"/>
            </a:endParaRPr>
          </a:p>
          <a:p>
            <a:pPr marL="0" indent="0">
              <a:buNone/>
            </a:pPr>
            <a:br>
              <a:rPr lang="en-IN" sz="1200" dirty="0"/>
            </a:br>
            <a:endParaRPr lang="en-GB" sz="1600" dirty="0">
              <a:latin typeface="Cambria" panose="02040503050406030204" pitchFamily="18" charset="0"/>
              <a:ea typeface="Cambria" panose="02040503050406030204" pitchFamily="18" charset="0"/>
            </a:endParaRPr>
          </a:p>
        </p:txBody>
      </p:sp>
      <p:graphicFrame>
        <p:nvGraphicFramePr>
          <p:cNvPr id="4" name="Table 3">
            <a:extLst>
              <a:ext uri="{FF2B5EF4-FFF2-40B4-BE49-F238E27FC236}">
                <a16:creationId xmlns:a16="http://schemas.microsoft.com/office/drawing/2014/main" id="{62398E1B-E265-DE08-8155-D30D28AF165E}"/>
              </a:ext>
            </a:extLst>
          </p:cNvPr>
          <p:cNvGraphicFramePr>
            <a:graphicFrameLocks noGrp="1"/>
          </p:cNvGraphicFramePr>
          <p:nvPr>
            <p:extLst>
              <p:ext uri="{D42A27DB-BD31-4B8C-83A1-F6EECF244321}">
                <p14:modId xmlns:p14="http://schemas.microsoft.com/office/powerpoint/2010/main" val="4055814874"/>
              </p:ext>
            </p:extLst>
          </p:nvPr>
        </p:nvGraphicFramePr>
        <p:xfrm>
          <a:off x="0" y="944880"/>
          <a:ext cx="12191999" cy="6217920"/>
        </p:xfrm>
        <a:graphic>
          <a:graphicData uri="http://schemas.openxmlformats.org/drawingml/2006/table">
            <a:tbl>
              <a:tblPr firstRow="1" bandRow="1">
                <a:tableStyleId>{5C22544A-7EE6-4342-B048-85BDC9FD1C3A}</a:tableStyleId>
              </a:tblPr>
              <a:tblGrid>
                <a:gridCol w="680919">
                  <a:extLst>
                    <a:ext uri="{9D8B030D-6E8A-4147-A177-3AD203B41FA5}">
                      <a16:colId xmlns:a16="http://schemas.microsoft.com/office/drawing/2014/main" val="2775457719"/>
                    </a:ext>
                  </a:extLst>
                </a:gridCol>
                <a:gridCol w="2142060">
                  <a:extLst>
                    <a:ext uri="{9D8B030D-6E8A-4147-A177-3AD203B41FA5}">
                      <a16:colId xmlns:a16="http://schemas.microsoft.com/office/drawing/2014/main" val="3048040645"/>
                    </a:ext>
                  </a:extLst>
                </a:gridCol>
                <a:gridCol w="1319436">
                  <a:extLst>
                    <a:ext uri="{9D8B030D-6E8A-4147-A177-3AD203B41FA5}">
                      <a16:colId xmlns:a16="http://schemas.microsoft.com/office/drawing/2014/main" val="2962039181"/>
                    </a:ext>
                  </a:extLst>
                </a:gridCol>
                <a:gridCol w="2546819">
                  <a:extLst>
                    <a:ext uri="{9D8B030D-6E8A-4147-A177-3AD203B41FA5}">
                      <a16:colId xmlns:a16="http://schemas.microsoft.com/office/drawing/2014/main" val="3518668417"/>
                    </a:ext>
                  </a:extLst>
                </a:gridCol>
                <a:gridCol w="2209289">
                  <a:extLst>
                    <a:ext uri="{9D8B030D-6E8A-4147-A177-3AD203B41FA5}">
                      <a16:colId xmlns:a16="http://schemas.microsoft.com/office/drawing/2014/main" val="1580340988"/>
                    </a:ext>
                  </a:extLst>
                </a:gridCol>
                <a:gridCol w="2505906">
                  <a:extLst>
                    <a:ext uri="{9D8B030D-6E8A-4147-A177-3AD203B41FA5}">
                      <a16:colId xmlns:a16="http://schemas.microsoft.com/office/drawing/2014/main" val="1510685070"/>
                    </a:ext>
                  </a:extLst>
                </a:gridCol>
                <a:gridCol w="787570">
                  <a:extLst>
                    <a:ext uri="{9D8B030D-6E8A-4147-A177-3AD203B41FA5}">
                      <a16:colId xmlns:a16="http://schemas.microsoft.com/office/drawing/2014/main" val="3994454266"/>
                    </a:ext>
                  </a:extLst>
                </a:gridCol>
              </a:tblGrid>
              <a:tr h="631834">
                <a:tc>
                  <a:txBody>
                    <a:bodyPr/>
                    <a:lstStyle/>
                    <a:p>
                      <a:r>
                        <a:rPr lang="en-IN" dirty="0">
                          <a:latin typeface="Times New Roman" panose="02020603050405020304" pitchFamily="18" charset="0"/>
                          <a:cs typeface="Times New Roman" panose="02020603050405020304" pitchFamily="18" charset="0"/>
                        </a:rPr>
                        <a:t>Sl.no.</a:t>
                      </a:r>
                    </a:p>
                  </a:txBody>
                  <a:tcPr anchor="ctr"/>
                </a:tc>
                <a:tc>
                  <a:txBody>
                    <a:bodyPr/>
                    <a:lstStyle/>
                    <a:p>
                      <a:r>
                        <a:rPr lang="en-IN" dirty="0">
                          <a:latin typeface="Times New Roman" panose="02020603050405020304" pitchFamily="18" charset="0"/>
                          <a:cs typeface="Times New Roman" panose="02020603050405020304" pitchFamily="18" charset="0"/>
                        </a:rPr>
                        <a:t>Paper Title</a:t>
                      </a:r>
                    </a:p>
                  </a:txBody>
                  <a:tcPr anchor="ctr"/>
                </a:tc>
                <a:tc>
                  <a:txBody>
                    <a:bodyPr/>
                    <a:lstStyle/>
                    <a:p>
                      <a:r>
                        <a:rPr lang="en-IN" dirty="0">
                          <a:latin typeface="Times New Roman" panose="02020603050405020304" pitchFamily="18" charset="0"/>
                          <a:cs typeface="Times New Roman" panose="02020603050405020304" pitchFamily="18" charset="0"/>
                        </a:rPr>
                        <a:t>Authors</a:t>
                      </a:r>
                    </a:p>
                  </a:txBody>
                  <a:tcPr anchor="ctr"/>
                </a:tc>
                <a:tc>
                  <a:txBody>
                    <a:bodyPr/>
                    <a:lstStyle/>
                    <a:p>
                      <a:r>
                        <a:rPr lang="en-IN" dirty="0">
                          <a:latin typeface="Times New Roman" panose="02020603050405020304" pitchFamily="18" charset="0"/>
                          <a:cs typeface="Times New Roman" panose="02020603050405020304" pitchFamily="18" charset="0"/>
                        </a:rPr>
                        <a:t>Proposed Model</a:t>
                      </a:r>
                    </a:p>
                  </a:txBody>
                  <a:tcPr anchor="ctr"/>
                </a:tc>
                <a:tc>
                  <a:txBody>
                    <a:bodyPr/>
                    <a:lstStyle/>
                    <a:p>
                      <a:r>
                        <a:rPr lang="en-IN" dirty="0">
                          <a:latin typeface="Times New Roman" panose="02020603050405020304" pitchFamily="18" charset="0"/>
                          <a:cs typeface="Times New Roman" panose="02020603050405020304" pitchFamily="18" charset="0"/>
                        </a:rPr>
                        <a:t>Results</a:t>
                      </a:r>
                    </a:p>
                  </a:txBody>
                  <a:tcPr anchor="ctr"/>
                </a:tc>
                <a:tc>
                  <a:txBody>
                    <a:bodyPr/>
                    <a:lstStyle/>
                    <a:p>
                      <a:r>
                        <a:rPr lang="en-IN" dirty="0">
                          <a:latin typeface="Times New Roman" panose="02020603050405020304" pitchFamily="18" charset="0"/>
                          <a:cs typeface="Times New Roman" panose="02020603050405020304" pitchFamily="18" charset="0"/>
                        </a:rPr>
                        <a:t>Drawbacks</a:t>
                      </a:r>
                    </a:p>
                  </a:txBody>
                  <a:tcPr anchor="ctr"/>
                </a:tc>
                <a:tc>
                  <a:txBody>
                    <a:bodyPr/>
                    <a:lstStyle/>
                    <a:p>
                      <a:r>
                        <a:rPr lang="en-IN" dirty="0">
                          <a:latin typeface="Times New Roman" panose="02020603050405020304" pitchFamily="18" charset="0"/>
                          <a:cs typeface="Times New Roman" panose="02020603050405020304" pitchFamily="18" charset="0"/>
                        </a:rPr>
                        <a:t>Year</a:t>
                      </a:r>
                    </a:p>
                  </a:txBody>
                  <a:tcPr anchor="ctr"/>
                </a:tc>
                <a:extLst>
                  <a:ext uri="{0D108BD9-81ED-4DB2-BD59-A6C34878D82A}">
                    <a16:rowId xmlns:a16="http://schemas.microsoft.com/office/drawing/2014/main" val="3670482264"/>
                  </a:ext>
                </a:extLst>
              </a:tr>
              <a:tr h="934720">
                <a:tc>
                  <a:txBody>
                    <a:bodyPr/>
                    <a:lstStyle/>
                    <a:p>
                      <a:r>
                        <a:rPr lang="en-IN" dirty="0">
                          <a:latin typeface="Times New Roman" panose="02020603050405020304" pitchFamily="18" charset="0"/>
                          <a:cs typeface="Times New Roman" panose="02020603050405020304" pitchFamily="18" charset="0"/>
                        </a:rPr>
                        <a:t>1</a:t>
                      </a:r>
                    </a:p>
                  </a:txBody>
                  <a:tcPr anchor="ctr"/>
                </a:tc>
                <a:tc>
                  <a:txBody>
                    <a:bodyPr/>
                    <a:lstStyle/>
                    <a:p>
                      <a:r>
                        <a:rPr lang="en-US" sz="1400" dirty="0">
                          <a:latin typeface="Times New Roman" panose="02020603050405020304" pitchFamily="18" charset="0"/>
                          <a:cs typeface="Times New Roman" panose="02020603050405020304" pitchFamily="18" charset="0"/>
                        </a:rPr>
                        <a:t>Blockchain-based Track and Trace System for Supply Chain Management</a:t>
                      </a:r>
                    </a:p>
                  </a:txBody>
                  <a:tcPr anchor="ctr"/>
                </a:tc>
                <a:tc>
                  <a:txBody>
                    <a:bodyPr/>
                    <a:lstStyle/>
                    <a:p>
                      <a:r>
                        <a:rPr lang="en-IN" sz="1400" dirty="0">
                          <a:latin typeface="Times New Roman" panose="02020603050405020304" pitchFamily="18" charset="0"/>
                          <a:cs typeface="Times New Roman" panose="02020603050405020304" pitchFamily="18" charset="0"/>
                        </a:rPr>
                        <a:t>Lee J., Kim S.</a:t>
                      </a:r>
                    </a:p>
                  </a:txBody>
                  <a:tcPr anchor="ctr"/>
                </a:tc>
                <a:tc>
                  <a:txBody>
                    <a:bodyPr/>
                    <a:lstStyle/>
                    <a:p>
                      <a:r>
                        <a:rPr lang="en-US" sz="1400" dirty="0">
                          <a:latin typeface="Times New Roman" panose="02020603050405020304" pitchFamily="18" charset="0"/>
                          <a:cs typeface="Times New Roman" panose="02020603050405020304" pitchFamily="18" charset="0"/>
                        </a:rPr>
                        <a:t>A blockchain-enabled system to track goods at every point in the supply chain with immutable record keeping.</a:t>
                      </a:r>
                    </a:p>
                  </a:txBody>
                  <a:tcPr anchor="ctr"/>
                </a:tc>
                <a:tc>
                  <a:txBody>
                    <a:bodyPr/>
                    <a:lstStyle/>
                    <a:p>
                      <a:r>
                        <a:rPr lang="en-US" sz="1400" dirty="0">
                          <a:latin typeface="Times New Roman" panose="02020603050405020304" pitchFamily="18" charset="0"/>
                          <a:cs typeface="Times New Roman" panose="02020603050405020304" pitchFamily="18" charset="0"/>
                        </a:rPr>
                        <a:t>Improved traceability, reduced fraud, and enhanced transparency across supply chains.</a:t>
                      </a:r>
                    </a:p>
                  </a:txBody>
                  <a:tcPr anchor="ctr"/>
                </a:tc>
                <a:tc>
                  <a:txBody>
                    <a:bodyPr/>
                    <a:lstStyle/>
                    <a:p>
                      <a:r>
                        <a:rPr lang="en-US" sz="1400" dirty="0">
                          <a:latin typeface="Times New Roman" panose="02020603050405020304" pitchFamily="18" charset="0"/>
                          <a:cs typeface="Times New Roman" panose="02020603050405020304" pitchFamily="18" charset="0"/>
                        </a:rPr>
                        <a:t>High implementation costs and energy consumption associated with blockchain technologies.</a:t>
                      </a:r>
                    </a:p>
                  </a:txBody>
                  <a:tcPr anchor="ctr"/>
                </a:tc>
                <a:tc>
                  <a:txBody>
                    <a:bodyPr/>
                    <a:lstStyle/>
                    <a:p>
                      <a:r>
                        <a:rPr lang="en-IN" sz="1400" dirty="0">
                          <a:latin typeface="Times New Roman" panose="02020603050405020304" pitchFamily="18" charset="0"/>
                          <a:cs typeface="Times New Roman" panose="02020603050405020304" pitchFamily="18" charset="0"/>
                        </a:rPr>
                        <a:t>2020</a:t>
                      </a:r>
                    </a:p>
                  </a:txBody>
                  <a:tcPr anchor="ctr"/>
                </a:tc>
                <a:extLst>
                  <a:ext uri="{0D108BD9-81ED-4DB2-BD59-A6C34878D82A}">
                    <a16:rowId xmlns:a16="http://schemas.microsoft.com/office/drawing/2014/main" val="2857150165"/>
                  </a:ext>
                </a:extLst>
              </a:tr>
              <a:tr h="1112839">
                <a:tc>
                  <a:txBody>
                    <a:bodyPr/>
                    <a:lstStyle/>
                    <a:p>
                      <a:r>
                        <a:rPr lang="en-IN" dirty="0">
                          <a:latin typeface="Times New Roman" panose="02020603050405020304" pitchFamily="18" charset="0"/>
                          <a:cs typeface="Times New Roman" panose="02020603050405020304" pitchFamily="18" charset="0"/>
                        </a:rPr>
                        <a:t>2</a:t>
                      </a:r>
                    </a:p>
                  </a:txBody>
                  <a:tcPr anchor="ctr"/>
                </a:tc>
                <a:tc>
                  <a:txBody>
                    <a:bodyPr/>
                    <a:lstStyle/>
                    <a:p>
                      <a:r>
                        <a:rPr lang="en-US" sz="1400" dirty="0">
                          <a:latin typeface="Times New Roman" panose="02020603050405020304" pitchFamily="18" charset="0"/>
                          <a:cs typeface="Times New Roman" panose="02020603050405020304" pitchFamily="18" charset="0"/>
                        </a:rPr>
                        <a:t>IoT-Enhanced Track and Trace System for Perishable Goods</a:t>
                      </a:r>
                    </a:p>
                  </a:txBody>
                  <a:tcPr anchor="ctr"/>
                </a:tc>
                <a:tc>
                  <a:txBody>
                    <a:bodyPr/>
                    <a:lstStyle/>
                    <a:p>
                      <a:r>
                        <a:rPr lang="en-IN" sz="1400" dirty="0">
                          <a:latin typeface="Times New Roman" panose="02020603050405020304" pitchFamily="18" charset="0"/>
                          <a:cs typeface="Times New Roman" panose="02020603050405020304" pitchFamily="18" charset="0"/>
                        </a:rPr>
                        <a:t>Zhang L., Chen W.</a:t>
                      </a:r>
                    </a:p>
                  </a:txBody>
                  <a:tcPr anchor="ctr"/>
                </a:tc>
                <a:tc>
                  <a:txBody>
                    <a:bodyPr/>
                    <a:lstStyle/>
                    <a:p>
                      <a:r>
                        <a:rPr lang="en-US" sz="1400" dirty="0">
                          <a:latin typeface="Times New Roman" panose="02020603050405020304" pitchFamily="18" charset="0"/>
                          <a:cs typeface="Times New Roman" panose="02020603050405020304" pitchFamily="18" charset="0"/>
                        </a:rPr>
                        <a:t>IoT sensors integrated into a supply chain system for real-time tracking of perishable goods, enabling condition monitoring.</a:t>
                      </a:r>
                    </a:p>
                  </a:txBody>
                  <a:tcPr anchor="ctr"/>
                </a:tc>
                <a:tc>
                  <a:txBody>
                    <a:bodyPr/>
                    <a:lstStyle/>
                    <a:p>
                      <a:r>
                        <a:rPr lang="en-US" sz="1400" dirty="0">
                          <a:latin typeface="Times New Roman" panose="02020603050405020304" pitchFamily="18" charset="0"/>
                          <a:cs typeface="Times New Roman" panose="02020603050405020304" pitchFamily="18" charset="0"/>
                        </a:rPr>
                        <a:t>Increased efficiency in tracking goods with real-time alerts on temperature changes.</a:t>
                      </a:r>
                    </a:p>
                  </a:txBody>
                  <a:tcPr anchor="ctr"/>
                </a:tc>
                <a:tc>
                  <a:txBody>
                    <a:bodyPr/>
                    <a:lstStyle/>
                    <a:p>
                      <a:r>
                        <a:rPr lang="en-US" sz="1400" dirty="0">
                          <a:latin typeface="Times New Roman" panose="02020603050405020304" pitchFamily="18" charset="0"/>
                          <a:cs typeface="Times New Roman" panose="02020603050405020304" pitchFamily="18" charset="0"/>
                        </a:rPr>
                        <a:t>Scalability issues with handling large volumes of sensor data in global operations.</a:t>
                      </a:r>
                    </a:p>
                  </a:txBody>
                  <a:tcPr anchor="ctr"/>
                </a:tc>
                <a:tc>
                  <a:txBody>
                    <a:bodyPr/>
                    <a:lstStyle/>
                    <a:p>
                      <a:r>
                        <a:rPr lang="en-IN" sz="1400" dirty="0">
                          <a:latin typeface="Times New Roman" panose="02020603050405020304" pitchFamily="18" charset="0"/>
                          <a:cs typeface="Times New Roman" panose="02020603050405020304" pitchFamily="18" charset="0"/>
                        </a:rPr>
                        <a:t>2020</a:t>
                      </a:r>
                    </a:p>
                  </a:txBody>
                  <a:tcPr anchor="ctr"/>
                </a:tc>
                <a:extLst>
                  <a:ext uri="{0D108BD9-81ED-4DB2-BD59-A6C34878D82A}">
                    <a16:rowId xmlns:a16="http://schemas.microsoft.com/office/drawing/2014/main" val="2758320778"/>
                  </a:ext>
                </a:extLst>
              </a:tr>
              <a:tr h="1143319">
                <a:tc>
                  <a:txBody>
                    <a:bodyPr/>
                    <a:lstStyle/>
                    <a:p>
                      <a:r>
                        <a:rPr lang="en-IN" dirty="0">
                          <a:latin typeface="Times New Roman" panose="02020603050405020304" pitchFamily="18" charset="0"/>
                          <a:cs typeface="Times New Roman" panose="02020603050405020304" pitchFamily="18" charset="0"/>
                        </a:rPr>
                        <a:t>3</a:t>
                      </a:r>
                    </a:p>
                  </a:txBody>
                  <a:tcPr anchor="ctr"/>
                </a:tc>
                <a:tc>
                  <a:txBody>
                    <a:bodyPr/>
                    <a:lstStyle/>
                    <a:p>
                      <a:r>
                        <a:rPr lang="en-US" sz="1400" dirty="0">
                          <a:latin typeface="Times New Roman" panose="02020603050405020304" pitchFamily="18" charset="0"/>
                          <a:cs typeface="Times New Roman" panose="02020603050405020304" pitchFamily="18" charset="0"/>
                        </a:rPr>
                        <a:t>Distributed Ledger Technologies for Secure Supply Chain Traceability</a:t>
                      </a:r>
                    </a:p>
                  </a:txBody>
                  <a:tcPr anchor="ctr"/>
                </a:tc>
                <a:tc>
                  <a:txBody>
                    <a:bodyPr/>
                    <a:lstStyle/>
                    <a:p>
                      <a:r>
                        <a:rPr lang="en-IN" sz="1400" dirty="0">
                          <a:latin typeface="Times New Roman" panose="02020603050405020304" pitchFamily="18" charset="0"/>
                          <a:cs typeface="Times New Roman" panose="02020603050405020304" pitchFamily="18" charset="0"/>
                        </a:rPr>
                        <a:t>Davis P., Nguyen T.</a:t>
                      </a:r>
                    </a:p>
                  </a:txBody>
                  <a:tcPr anchor="ctr"/>
                </a:tc>
                <a:tc>
                  <a:txBody>
                    <a:bodyPr/>
                    <a:lstStyle/>
                    <a:p>
                      <a:r>
                        <a:rPr lang="en-US" sz="1400" dirty="0">
                          <a:latin typeface="Times New Roman" panose="02020603050405020304" pitchFamily="18" charset="0"/>
                          <a:cs typeface="Times New Roman" panose="02020603050405020304" pitchFamily="18" charset="0"/>
                        </a:rPr>
                        <a:t>A distributed ledger system using smart contracts to automate the verification of goods and transactions at each stage.</a:t>
                      </a:r>
                    </a:p>
                  </a:txBody>
                  <a:tcPr anchor="ctr"/>
                </a:tc>
                <a:tc>
                  <a:txBody>
                    <a:bodyPr/>
                    <a:lstStyle/>
                    <a:p>
                      <a:r>
                        <a:rPr lang="en-US" sz="1400" dirty="0">
                          <a:latin typeface="Times New Roman" panose="02020603050405020304" pitchFamily="18" charset="0"/>
                          <a:cs typeface="Times New Roman" panose="02020603050405020304" pitchFamily="18" charset="0"/>
                        </a:rPr>
                        <a:t>Improved security and efficiency with tamper-proof records and automated contract executions.</a:t>
                      </a:r>
                    </a:p>
                  </a:txBody>
                  <a:tcPr anchor="ctr"/>
                </a:tc>
                <a:tc>
                  <a:txBody>
                    <a:bodyPr/>
                    <a:lstStyle/>
                    <a:p>
                      <a:r>
                        <a:rPr lang="en-US" sz="1400" dirty="0">
                          <a:latin typeface="Times New Roman" panose="02020603050405020304" pitchFamily="18" charset="0"/>
                          <a:cs typeface="Times New Roman" panose="02020603050405020304" pitchFamily="18" charset="0"/>
                        </a:rPr>
                        <a:t>Legal challenges and jurisdictional issues in cross-border transactions.</a:t>
                      </a:r>
                    </a:p>
                  </a:txBody>
                  <a:tcPr anchor="ctr"/>
                </a:tc>
                <a:tc>
                  <a:txBody>
                    <a:bodyPr/>
                    <a:lstStyle/>
                    <a:p>
                      <a:r>
                        <a:rPr lang="en-IN" sz="1400" dirty="0">
                          <a:latin typeface="Times New Roman" panose="02020603050405020304" pitchFamily="18" charset="0"/>
                          <a:cs typeface="Times New Roman" panose="02020603050405020304" pitchFamily="18" charset="0"/>
                        </a:rPr>
                        <a:t>2021</a:t>
                      </a:r>
                    </a:p>
                  </a:txBody>
                  <a:tcPr anchor="ctr"/>
                </a:tc>
                <a:extLst>
                  <a:ext uri="{0D108BD9-81ED-4DB2-BD59-A6C34878D82A}">
                    <a16:rowId xmlns:a16="http://schemas.microsoft.com/office/drawing/2014/main" val="3495279931"/>
                  </a:ext>
                </a:extLst>
              </a:tr>
              <a:tr h="1143319">
                <a:tc>
                  <a:txBody>
                    <a:bodyPr/>
                    <a:lstStyle/>
                    <a:p>
                      <a:r>
                        <a:rPr lang="en-IN" dirty="0">
                          <a:latin typeface="Times New Roman" panose="02020603050405020304" pitchFamily="18" charset="0"/>
                          <a:cs typeface="Times New Roman" panose="02020603050405020304" pitchFamily="18" charset="0"/>
                        </a:rPr>
                        <a:t>4</a:t>
                      </a:r>
                    </a:p>
                  </a:txBody>
                  <a:tcPr anchor="ctr"/>
                </a:tc>
                <a:tc>
                  <a:txBody>
                    <a:bodyPr/>
                    <a:lstStyle/>
                    <a:p>
                      <a:r>
                        <a:rPr lang="en-US" sz="1400" dirty="0">
                          <a:latin typeface="Times New Roman" panose="02020603050405020304" pitchFamily="18" charset="0"/>
                          <a:cs typeface="Times New Roman" panose="02020603050405020304" pitchFamily="18" charset="0"/>
                        </a:rPr>
                        <a:t>Artificial Intelligence and Blockchain in Supply Chain Traceability</a:t>
                      </a:r>
                    </a:p>
                  </a:txBody>
                  <a:tcPr anchor="ctr"/>
                </a:tc>
                <a:tc>
                  <a:txBody>
                    <a:bodyPr/>
                    <a:lstStyle/>
                    <a:p>
                      <a:r>
                        <a:rPr lang="en-IN" sz="1400" dirty="0">
                          <a:latin typeface="Times New Roman" panose="02020603050405020304" pitchFamily="18" charset="0"/>
                          <a:cs typeface="Times New Roman" panose="02020603050405020304" pitchFamily="18" charset="0"/>
                        </a:rPr>
                        <a:t>Patel A., Johnson R.</a:t>
                      </a:r>
                    </a:p>
                  </a:txBody>
                  <a:tcPr anchor="ctr"/>
                </a:tc>
                <a:tc>
                  <a:txBody>
                    <a:bodyPr/>
                    <a:lstStyle/>
                    <a:p>
                      <a:r>
                        <a:rPr lang="en-US" sz="1400" dirty="0">
                          <a:latin typeface="Times New Roman" panose="02020603050405020304" pitchFamily="18" charset="0"/>
                          <a:cs typeface="Times New Roman" panose="02020603050405020304" pitchFamily="18" charset="0"/>
                        </a:rPr>
                        <a:t>Combination of AI and blockchain for predictive analytics and real-time tracking of goods in complex supply networks.</a:t>
                      </a:r>
                    </a:p>
                  </a:txBody>
                  <a:tcPr anchor="ctr"/>
                </a:tc>
                <a:tc>
                  <a:txBody>
                    <a:bodyPr/>
                    <a:lstStyle/>
                    <a:p>
                      <a:r>
                        <a:rPr lang="en-US" sz="1400" dirty="0">
                          <a:latin typeface="Times New Roman" panose="02020603050405020304" pitchFamily="18" charset="0"/>
                          <a:cs typeface="Times New Roman" panose="02020603050405020304" pitchFamily="18" charset="0"/>
                        </a:rPr>
                        <a:t>Improved decision-making and risk assessment with real-time data insights.</a:t>
                      </a:r>
                    </a:p>
                  </a:txBody>
                  <a:tcPr anchor="ctr"/>
                </a:tc>
                <a:tc>
                  <a:txBody>
                    <a:bodyPr/>
                    <a:lstStyle/>
                    <a:p>
                      <a:r>
                        <a:rPr lang="en-US" sz="1400" dirty="0">
                          <a:latin typeface="Times New Roman" panose="02020603050405020304" pitchFamily="18" charset="0"/>
                          <a:cs typeface="Times New Roman" panose="02020603050405020304" pitchFamily="18" charset="0"/>
                        </a:rPr>
                        <a:t>Complexity in integrating AI and blockchain systems; high costs for deployment.</a:t>
                      </a:r>
                    </a:p>
                  </a:txBody>
                  <a:tcPr anchor="ctr"/>
                </a:tc>
                <a:tc>
                  <a:txBody>
                    <a:bodyPr/>
                    <a:lstStyle/>
                    <a:p>
                      <a:r>
                        <a:rPr lang="en-IN" sz="1400" dirty="0">
                          <a:latin typeface="Times New Roman" panose="02020603050405020304" pitchFamily="18" charset="0"/>
                          <a:cs typeface="Times New Roman" panose="02020603050405020304" pitchFamily="18" charset="0"/>
                        </a:rPr>
                        <a:t>2021</a:t>
                      </a:r>
                    </a:p>
                  </a:txBody>
                  <a:tcPr anchor="ctr"/>
                </a:tc>
                <a:extLst>
                  <a:ext uri="{0D108BD9-81ED-4DB2-BD59-A6C34878D82A}">
                    <a16:rowId xmlns:a16="http://schemas.microsoft.com/office/drawing/2014/main" val="888706645"/>
                  </a:ext>
                </a:extLst>
              </a:tr>
              <a:tr h="1143319">
                <a:tc>
                  <a:txBody>
                    <a:bodyPr/>
                    <a:lstStyle/>
                    <a:p>
                      <a:r>
                        <a:rPr lang="en-IN" dirty="0">
                          <a:latin typeface="Times New Roman" panose="02020603050405020304" pitchFamily="18" charset="0"/>
                          <a:cs typeface="Times New Roman" panose="02020603050405020304" pitchFamily="18" charset="0"/>
                        </a:rPr>
                        <a:t>5</a:t>
                      </a:r>
                    </a:p>
                  </a:txBody>
                  <a:tcPr anchor="ctr"/>
                </a:tc>
                <a:tc>
                  <a:txBody>
                    <a:bodyPr/>
                    <a:lstStyle/>
                    <a:p>
                      <a:r>
                        <a:rPr lang="en-US" sz="1400" dirty="0">
                          <a:latin typeface="Times New Roman" panose="02020603050405020304" pitchFamily="18" charset="0"/>
                          <a:cs typeface="Times New Roman" panose="02020603050405020304" pitchFamily="18" charset="0"/>
                        </a:rPr>
                        <a:t>Enhancing Supply Chain Transparency with Digital Twins</a:t>
                      </a:r>
                    </a:p>
                  </a:txBody>
                  <a:tcPr anchor="ctr"/>
                </a:tc>
                <a:tc>
                  <a:txBody>
                    <a:bodyPr/>
                    <a:lstStyle/>
                    <a:p>
                      <a:r>
                        <a:rPr lang="en-IN" sz="1400" dirty="0">
                          <a:latin typeface="Times New Roman" panose="02020603050405020304" pitchFamily="18" charset="0"/>
                          <a:cs typeface="Times New Roman" panose="02020603050405020304" pitchFamily="18" charset="0"/>
                        </a:rPr>
                        <a:t>Wong T., Liu M.</a:t>
                      </a:r>
                    </a:p>
                  </a:txBody>
                  <a:tcPr anchor="ctr"/>
                </a:tc>
                <a:tc>
                  <a:txBody>
                    <a:bodyPr/>
                    <a:lstStyle/>
                    <a:p>
                      <a:r>
                        <a:rPr lang="en-US" sz="1400" dirty="0">
                          <a:latin typeface="Times New Roman" panose="02020603050405020304" pitchFamily="18" charset="0"/>
                          <a:cs typeface="Times New Roman" panose="02020603050405020304" pitchFamily="18" charset="0"/>
                        </a:rPr>
                        <a:t>Utilizes digital twin technology to create virtual models of supply chain processes for enhanced visibility and traceability.</a:t>
                      </a:r>
                    </a:p>
                  </a:txBody>
                  <a:tcPr anchor="ctr"/>
                </a:tc>
                <a:tc>
                  <a:txBody>
                    <a:bodyPr/>
                    <a:lstStyle/>
                    <a:p>
                      <a:r>
                        <a:rPr lang="en-US" sz="1400" dirty="0">
                          <a:latin typeface="Times New Roman" panose="02020603050405020304" pitchFamily="18" charset="0"/>
                          <a:cs typeface="Times New Roman" panose="02020603050405020304" pitchFamily="18" charset="0"/>
                        </a:rPr>
                        <a:t>Real-time simulation and prediction of supply chain disruptions, improving response times.</a:t>
                      </a:r>
                    </a:p>
                  </a:txBody>
                  <a:tcPr anchor="ctr"/>
                </a:tc>
                <a:tc>
                  <a:txBody>
                    <a:bodyPr/>
                    <a:lstStyle/>
                    <a:p>
                      <a:r>
                        <a:rPr lang="en-US" sz="1400" dirty="0">
                          <a:latin typeface="Times New Roman" panose="02020603050405020304" pitchFamily="18" charset="0"/>
                          <a:cs typeface="Times New Roman" panose="02020603050405020304" pitchFamily="18" charset="0"/>
                        </a:rPr>
                        <a:t>Requires substantial data infrastructure investment and expertise to manage digital twin models.</a:t>
                      </a:r>
                    </a:p>
                  </a:txBody>
                  <a:tcPr anchor="ctr"/>
                </a:tc>
                <a:tc>
                  <a:txBody>
                    <a:bodyPr/>
                    <a:lstStyle/>
                    <a:p>
                      <a:r>
                        <a:rPr lang="en-IN" sz="1400" dirty="0">
                          <a:latin typeface="Times New Roman" panose="02020603050405020304" pitchFamily="18" charset="0"/>
                          <a:cs typeface="Times New Roman" panose="02020603050405020304" pitchFamily="18" charset="0"/>
                        </a:rPr>
                        <a:t>2020</a:t>
                      </a:r>
                    </a:p>
                  </a:txBody>
                  <a:tcPr anchor="ctr"/>
                </a:tc>
                <a:extLst>
                  <a:ext uri="{0D108BD9-81ED-4DB2-BD59-A6C34878D82A}">
                    <a16:rowId xmlns:a16="http://schemas.microsoft.com/office/drawing/2014/main" val="1840269269"/>
                  </a:ext>
                </a:extLst>
              </a:tr>
            </a:tbl>
          </a:graphicData>
        </a:graphic>
      </p:graphicFrame>
    </p:spTree>
    <p:extLst>
      <p:ext uri="{BB962C8B-B14F-4D97-AF65-F5344CB8AC3E}">
        <p14:creationId xmlns:p14="http://schemas.microsoft.com/office/powerpoint/2010/main" val="3767711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952FD9-CA92-F0D2-9480-484E325EE0B2}"/>
              </a:ext>
            </a:extLst>
          </p:cNvPr>
          <p:cNvSpPr txBox="1"/>
          <p:nvPr/>
        </p:nvSpPr>
        <p:spPr>
          <a:xfrm>
            <a:off x="853440" y="338574"/>
            <a:ext cx="6096000" cy="523220"/>
          </a:xfrm>
          <a:prstGeom prst="rect">
            <a:avLst/>
          </a:prstGeom>
          <a:noFill/>
        </p:spPr>
        <p:txBody>
          <a:bodyPr wrap="square">
            <a:spAutoFit/>
          </a:bodyPr>
          <a:lstStyle/>
          <a:p>
            <a:r>
              <a:rPr lang="en-GB" sz="2800" b="1" dirty="0">
                <a:solidFill>
                  <a:schemeClr val="tx2">
                    <a:lumMod val="75000"/>
                  </a:schemeClr>
                </a:solidFill>
                <a:latin typeface="Verdana" panose="020B0604030504040204" pitchFamily="34" charset="0"/>
                <a:ea typeface="Verdana" panose="020B0604030504040204" pitchFamily="34" charset="0"/>
              </a:rPr>
              <a:t>Literature Review</a:t>
            </a:r>
            <a:endParaRPr lang="en-IN" sz="2800" b="1" dirty="0">
              <a:solidFill>
                <a:schemeClr val="tx2">
                  <a:lumMod val="75000"/>
                </a:schemeClr>
              </a:solidFill>
              <a:latin typeface="Verdana" panose="020B0604030504040204" pitchFamily="34" charset="0"/>
              <a:ea typeface="Verdana" panose="020B0604030504040204" pitchFamily="34" charset="0"/>
            </a:endParaRPr>
          </a:p>
        </p:txBody>
      </p:sp>
      <p:graphicFrame>
        <p:nvGraphicFramePr>
          <p:cNvPr id="5" name="Table 4">
            <a:extLst>
              <a:ext uri="{FF2B5EF4-FFF2-40B4-BE49-F238E27FC236}">
                <a16:creationId xmlns:a16="http://schemas.microsoft.com/office/drawing/2014/main" id="{48860B3D-4637-68A3-A8A2-61CBE7651E8A}"/>
              </a:ext>
            </a:extLst>
          </p:cNvPr>
          <p:cNvGraphicFramePr>
            <a:graphicFrameLocks noGrp="1"/>
          </p:cNvGraphicFramePr>
          <p:nvPr>
            <p:extLst>
              <p:ext uri="{D42A27DB-BD31-4B8C-83A1-F6EECF244321}">
                <p14:modId xmlns:p14="http://schemas.microsoft.com/office/powerpoint/2010/main" val="1848224530"/>
              </p:ext>
            </p:extLst>
          </p:nvPr>
        </p:nvGraphicFramePr>
        <p:xfrm>
          <a:off x="0" y="955040"/>
          <a:ext cx="12191998" cy="6035198"/>
        </p:xfrm>
        <a:graphic>
          <a:graphicData uri="http://schemas.openxmlformats.org/drawingml/2006/table">
            <a:tbl>
              <a:tblPr firstRow="1" bandRow="1">
                <a:tableStyleId>{5C22544A-7EE6-4342-B048-85BDC9FD1C3A}</a:tableStyleId>
              </a:tblPr>
              <a:tblGrid>
                <a:gridCol w="568960">
                  <a:extLst>
                    <a:ext uri="{9D8B030D-6E8A-4147-A177-3AD203B41FA5}">
                      <a16:colId xmlns:a16="http://schemas.microsoft.com/office/drawing/2014/main" val="2769056096"/>
                    </a:ext>
                  </a:extLst>
                </a:gridCol>
                <a:gridCol w="2479040">
                  <a:extLst>
                    <a:ext uri="{9D8B030D-6E8A-4147-A177-3AD203B41FA5}">
                      <a16:colId xmlns:a16="http://schemas.microsoft.com/office/drawing/2014/main" val="63308633"/>
                    </a:ext>
                  </a:extLst>
                </a:gridCol>
                <a:gridCol w="1483360">
                  <a:extLst>
                    <a:ext uri="{9D8B030D-6E8A-4147-A177-3AD203B41FA5}">
                      <a16:colId xmlns:a16="http://schemas.microsoft.com/office/drawing/2014/main" val="1181668228"/>
                    </a:ext>
                  </a:extLst>
                </a:gridCol>
                <a:gridCol w="2489200">
                  <a:extLst>
                    <a:ext uri="{9D8B030D-6E8A-4147-A177-3AD203B41FA5}">
                      <a16:colId xmlns:a16="http://schemas.microsoft.com/office/drawing/2014/main" val="4247428804"/>
                    </a:ext>
                  </a:extLst>
                </a:gridCol>
                <a:gridCol w="1838960">
                  <a:extLst>
                    <a:ext uri="{9D8B030D-6E8A-4147-A177-3AD203B41FA5}">
                      <a16:colId xmlns:a16="http://schemas.microsoft.com/office/drawing/2014/main" val="721962112"/>
                    </a:ext>
                  </a:extLst>
                </a:gridCol>
                <a:gridCol w="2499360">
                  <a:extLst>
                    <a:ext uri="{9D8B030D-6E8A-4147-A177-3AD203B41FA5}">
                      <a16:colId xmlns:a16="http://schemas.microsoft.com/office/drawing/2014/main" val="2786049482"/>
                    </a:ext>
                  </a:extLst>
                </a:gridCol>
                <a:gridCol w="833118">
                  <a:extLst>
                    <a:ext uri="{9D8B030D-6E8A-4147-A177-3AD203B41FA5}">
                      <a16:colId xmlns:a16="http://schemas.microsoft.com/office/drawing/2014/main" val="2055073368"/>
                    </a:ext>
                  </a:extLst>
                </a:gridCol>
              </a:tblGrid>
              <a:tr h="764073">
                <a:tc>
                  <a:txBody>
                    <a:bodyPr/>
                    <a:lstStyle/>
                    <a:p>
                      <a:r>
                        <a:rPr lang="en-IN" dirty="0">
                          <a:latin typeface="Times New Roman" panose="02020603050405020304" pitchFamily="18" charset="0"/>
                          <a:cs typeface="Times New Roman" panose="02020603050405020304" pitchFamily="18" charset="0"/>
                        </a:rPr>
                        <a:t>Sl.no</a:t>
                      </a:r>
                    </a:p>
                  </a:txBody>
                  <a:tcPr anchor="ctr"/>
                </a:tc>
                <a:tc>
                  <a:txBody>
                    <a:bodyPr/>
                    <a:lstStyle/>
                    <a:p>
                      <a:r>
                        <a:rPr lang="en-IN" dirty="0">
                          <a:latin typeface="Times New Roman" panose="02020603050405020304" pitchFamily="18" charset="0"/>
                          <a:cs typeface="Times New Roman" panose="02020603050405020304" pitchFamily="18" charset="0"/>
                        </a:rPr>
                        <a:t>Paper Title</a:t>
                      </a:r>
                    </a:p>
                  </a:txBody>
                  <a:tcPr anchor="ctr"/>
                </a:tc>
                <a:tc>
                  <a:txBody>
                    <a:bodyPr/>
                    <a:lstStyle/>
                    <a:p>
                      <a:r>
                        <a:rPr lang="en-IN" dirty="0">
                          <a:latin typeface="Times New Roman" panose="02020603050405020304" pitchFamily="18" charset="0"/>
                          <a:cs typeface="Times New Roman" panose="02020603050405020304" pitchFamily="18" charset="0"/>
                        </a:rPr>
                        <a:t>Authors</a:t>
                      </a:r>
                    </a:p>
                  </a:txBody>
                  <a:tcPr anchor="ctr"/>
                </a:tc>
                <a:tc>
                  <a:txBody>
                    <a:bodyPr/>
                    <a:lstStyle/>
                    <a:p>
                      <a:r>
                        <a:rPr lang="en-IN" dirty="0">
                          <a:latin typeface="Times New Roman" panose="02020603050405020304" pitchFamily="18" charset="0"/>
                          <a:cs typeface="Times New Roman" panose="02020603050405020304" pitchFamily="18" charset="0"/>
                        </a:rPr>
                        <a:t>Proposed Model</a:t>
                      </a:r>
                    </a:p>
                  </a:txBody>
                  <a:tcPr anchor="ctr"/>
                </a:tc>
                <a:tc>
                  <a:txBody>
                    <a:bodyPr/>
                    <a:lstStyle/>
                    <a:p>
                      <a:r>
                        <a:rPr lang="en-IN" dirty="0">
                          <a:latin typeface="Times New Roman" panose="02020603050405020304" pitchFamily="18" charset="0"/>
                          <a:cs typeface="Times New Roman" panose="02020603050405020304" pitchFamily="18" charset="0"/>
                        </a:rPr>
                        <a:t>Results</a:t>
                      </a:r>
                    </a:p>
                  </a:txBody>
                  <a:tcPr anchor="ctr"/>
                </a:tc>
                <a:tc>
                  <a:txBody>
                    <a:bodyPr/>
                    <a:lstStyle/>
                    <a:p>
                      <a:r>
                        <a:rPr lang="en-IN" dirty="0">
                          <a:latin typeface="Times New Roman" panose="02020603050405020304" pitchFamily="18" charset="0"/>
                          <a:cs typeface="Times New Roman" panose="02020603050405020304" pitchFamily="18" charset="0"/>
                        </a:rPr>
                        <a:t>Drawbacks</a:t>
                      </a:r>
                    </a:p>
                  </a:txBody>
                  <a:tcPr anchor="ctr"/>
                </a:tc>
                <a:tc>
                  <a:txBody>
                    <a:bodyPr/>
                    <a:lstStyle/>
                    <a:p>
                      <a:r>
                        <a:rPr lang="en-IN" dirty="0">
                          <a:latin typeface="Times New Roman" panose="02020603050405020304" pitchFamily="18" charset="0"/>
                          <a:cs typeface="Times New Roman" panose="02020603050405020304" pitchFamily="18" charset="0"/>
                        </a:rPr>
                        <a:t>Year</a:t>
                      </a:r>
                    </a:p>
                  </a:txBody>
                  <a:tcPr anchor="ctr"/>
                </a:tc>
                <a:extLst>
                  <a:ext uri="{0D108BD9-81ED-4DB2-BD59-A6C34878D82A}">
                    <a16:rowId xmlns:a16="http://schemas.microsoft.com/office/drawing/2014/main" val="1344480349"/>
                  </a:ext>
                </a:extLst>
              </a:tr>
              <a:tr h="1027733">
                <a:tc>
                  <a:txBody>
                    <a:bodyPr/>
                    <a:lstStyle/>
                    <a:p>
                      <a:r>
                        <a:rPr lang="en-IN" dirty="0">
                          <a:latin typeface="Times New Roman" panose="02020603050405020304" pitchFamily="18" charset="0"/>
                          <a:cs typeface="Times New Roman" panose="02020603050405020304" pitchFamily="18" charset="0"/>
                        </a:rPr>
                        <a:t>6</a:t>
                      </a:r>
                    </a:p>
                  </a:txBody>
                  <a:tcPr anchor="ctr"/>
                </a:tc>
                <a:tc>
                  <a:txBody>
                    <a:bodyPr/>
                    <a:lstStyle/>
                    <a:p>
                      <a:r>
                        <a:rPr lang="en-US" sz="1400" dirty="0">
                          <a:latin typeface="Times New Roman" panose="02020603050405020304" pitchFamily="18" charset="0"/>
                          <a:cs typeface="Times New Roman" panose="02020603050405020304" pitchFamily="18" charset="0"/>
                        </a:rPr>
                        <a:t>Blockchain and RFID for End-to-End Supply Chain Traceability</a:t>
                      </a:r>
                    </a:p>
                  </a:txBody>
                  <a:tcPr anchor="ctr"/>
                </a:tc>
                <a:tc>
                  <a:txBody>
                    <a:bodyPr/>
                    <a:lstStyle/>
                    <a:p>
                      <a:r>
                        <a:rPr lang="en-IN" sz="1400" dirty="0">
                          <a:latin typeface="Times New Roman" panose="02020603050405020304" pitchFamily="18" charset="0"/>
                          <a:cs typeface="Times New Roman" panose="02020603050405020304" pitchFamily="18" charset="0"/>
                        </a:rPr>
                        <a:t>Smith K., Garcia L.</a:t>
                      </a:r>
                    </a:p>
                  </a:txBody>
                  <a:tcPr anchor="ctr"/>
                </a:tc>
                <a:tc>
                  <a:txBody>
                    <a:bodyPr/>
                    <a:lstStyle/>
                    <a:p>
                      <a:r>
                        <a:rPr lang="en-US" sz="1400" dirty="0">
                          <a:latin typeface="Times New Roman" panose="02020603050405020304" pitchFamily="18" charset="0"/>
                          <a:cs typeface="Times New Roman" panose="02020603050405020304" pitchFamily="18" charset="0"/>
                        </a:rPr>
                        <a:t>Integration of blockchain with RFID tags for tracking goods from origin to delivery.</a:t>
                      </a:r>
                    </a:p>
                  </a:txBody>
                  <a:tcPr anchor="ctr"/>
                </a:tc>
                <a:tc>
                  <a:txBody>
                    <a:bodyPr/>
                    <a:lstStyle/>
                    <a:p>
                      <a:r>
                        <a:rPr lang="en-US" sz="1400" dirty="0">
                          <a:latin typeface="Times New Roman" panose="02020603050405020304" pitchFamily="18" charset="0"/>
                          <a:cs typeface="Times New Roman" panose="02020603050405020304" pitchFamily="18" charset="0"/>
                        </a:rPr>
                        <a:t>Improved accuracy in tracking and inventory management.</a:t>
                      </a:r>
                    </a:p>
                  </a:txBody>
                  <a:tcPr anchor="ctr"/>
                </a:tc>
                <a:tc>
                  <a:txBody>
                    <a:bodyPr/>
                    <a:lstStyle/>
                    <a:p>
                      <a:r>
                        <a:rPr lang="en-US" sz="1400" dirty="0">
                          <a:latin typeface="Times New Roman" panose="02020603050405020304" pitchFamily="18" charset="0"/>
                          <a:cs typeface="Times New Roman" panose="02020603050405020304" pitchFamily="18" charset="0"/>
                        </a:rPr>
                        <a:t>High costs associated with RFID hardware and blockchain integration.</a:t>
                      </a:r>
                    </a:p>
                  </a:txBody>
                  <a:tcPr anchor="ctr"/>
                </a:tc>
                <a:tc>
                  <a:txBody>
                    <a:bodyPr/>
                    <a:lstStyle/>
                    <a:p>
                      <a:r>
                        <a:rPr lang="en-IN" sz="1400" dirty="0">
                          <a:latin typeface="Times New Roman" panose="02020603050405020304" pitchFamily="18" charset="0"/>
                          <a:cs typeface="Times New Roman" panose="02020603050405020304" pitchFamily="18" charset="0"/>
                        </a:rPr>
                        <a:t>2021</a:t>
                      </a:r>
                    </a:p>
                  </a:txBody>
                  <a:tcPr anchor="ctr"/>
                </a:tc>
                <a:extLst>
                  <a:ext uri="{0D108BD9-81ED-4DB2-BD59-A6C34878D82A}">
                    <a16:rowId xmlns:a16="http://schemas.microsoft.com/office/drawing/2014/main" val="337331071"/>
                  </a:ext>
                </a:extLst>
              </a:tr>
              <a:tr h="1027733">
                <a:tc>
                  <a:txBody>
                    <a:bodyPr/>
                    <a:lstStyle/>
                    <a:p>
                      <a:r>
                        <a:rPr lang="en-IN" dirty="0">
                          <a:latin typeface="Times New Roman" panose="02020603050405020304" pitchFamily="18" charset="0"/>
                          <a:cs typeface="Times New Roman" panose="02020603050405020304" pitchFamily="18" charset="0"/>
                        </a:rPr>
                        <a:t>7</a:t>
                      </a:r>
                    </a:p>
                  </a:txBody>
                  <a:tcPr anchor="ctr"/>
                </a:tc>
                <a:tc>
                  <a:txBody>
                    <a:bodyPr/>
                    <a:lstStyle/>
                    <a:p>
                      <a:r>
                        <a:rPr lang="en-US" sz="1400" dirty="0">
                          <a:latin typeface="Times New Roman" panose="02020603050405020304" pitchFamily="18" charset="0"/>
                          <a:cs typeface="Times New Roman" panose="02020603050405020304" pitchFamily="18" charset="0"/>
                        </a:rPr>
                        <a:t>Secure and Transparent Food Supply Chain Using Blockchain and IoT</a:t>
                      </a:r>
                    </a:p>
                  </a:txBody>
                  <a:tcPr anchor="ctr"/>
                </a:tc>
                <a:tc>
                  <a:txBody>
                    <a:bodyPr/>
                    <a:lstStyle/>
                    <a:p>
                      <a:r>
                        <a:rPr lang="en-IN" sz="1400" dirty="0">
                          <a:latin typeface="Times New Roman" panose="02020603050405020304" pitchFamily="18" charset="0"/>
                          <a:cs typeface="Times New Roman" panose="02020603050405020304" pitchFamily="18" charset="0"/>
                        </a:rPr>
                        <a:t>Khan H., Ahmed R.</a:t>
                      </a:r>
                    </a:p>
                  </a:txBody>
                  <a:tcPr anchor="ctr"/>
                </a:tc>
                <a:tc>
                  <a:txBody>
                    <a:bodyPr/>
                    <a:lstStyle/>
                    <a:p>
                      <a:r>
                        <a:rPr lang="en-US" sz="1400" dirty="0">
                          <a:latin typeface="Times New Roman" panose="02020603050405020304" pitchFamily="18" charset="0"/>
                          <a:cs typeface="Times New Roman" panose="02020603050405020304" pitchFamily="18" charset="0"/>
                        </a:rPr>
                        <a:t>A blockchain-IoT hybrid system for tracking food products, ensuring quality and origin through real-time monitoring.</a:t>
                      </a:r>
                    </a:p>
                  </a:txBody>
                  <a:tcPr anchor="ctr"/>
                </a:tc>
                <a:tc>
                  <a:txBody>
                    <a:bodyPr/>
                    <a:lstStyle/>
                    <a:p>
                      <a:r>
                        <a:rPr lang="en-US" sz="1400" dirty="0">
                          <a:latin typeface="Times New Roman" panose="02020603050405020304" pitchFamily="18" charset="0"/>
                          <a:cs typeface="Times New Roman" panose="02020603050405020304" pitchFamily="18" charset="0"/>
                        </a:rPr>
                        <a:t>Enhanced food safety, reduced fraud, and compliance with regulations.</a:t>
                      </a:r>
                    </a:p>
                  </a:txBody>
                  <a:tcPr anchor="ctr"/>
                </a:tc>
                <a:tc>
                  <a:txBody>
                    <a:bodyPr/>
                    <a:lstStyle/>
                    <a:p>
                      <a:r>
                        <a:rPr lang="en-US" sz="1400" dirty="0">
                          <a:latin typeface="Times New Roman" panose="02020603050405020304" pitchFamily="18" charset="0"/>
                          <a:cs typeface="Times New Roman" panose="02020603050405020304" pitchFamily="18" charset="0"/>
                        </a:rPr>
                        <a:t>Data privacy concerns and technical challenges with IoT sensor integration.</a:t>
                      </a:r>
                    </a:p>
                  </a:txBody>
                  <a:tcPr anchor="ctr"/>
                </a:tc>
                <a:tc>
                  <a:txBody>
                    <a:bodyPr/>
                    <a:lstStyle/>
                    <a:p>
                      <a:r>
                        <a:rPr lang="en-IN" sz="1400" dirty="0">
                          <a:latin typeface="Times New Roman" panose="02020603050405020304" pitchFamily="18" charset="0"/>
                          <a:cs typeface="Times New Roman" panose="02020603050405020304" pitchFamily="18" charset="0"/>
                        </a:rPr>
                        <a:t>2022</a:t>
                      </a:r>
                    </a:p>
                  </a:txBody>
                  <a:tcPr anchor="ctr"/>
                </a:tc>
                <a:extLst>
                  <a:ext uri="{0D108BD9-81ED-4DB2-BD59-A6C34878D82A}">
                    <a16:rowId xmlns:a16="http://schemas.microsoft.com/office/drawing/2014/main" val="2853158657"/>
                  </a:ext>
                </a:extLst>
              </a:tr>
              <a:tr h="1027733">
                <a:tc>
                  <a:txBody>
                    <a:bodyPr/>
                    <a:lstStyle/>
                    <a:p>
                      <a:r>
                        <a:rPr lang="en-IN" dirty="0">
                          <a:latin typeface="Times New Roman" panose="02020603050405020304" pitchFamily="18" charset="0"/>
                          <a:cs typeface="Times New Roman" panose="02020603050405020304" pitchFamily="18" charset="0"/>
                        </a:rPr>
                        <a:t>8</a:t>
                      </a:r>
                    </a:p>
                  </a:txBody>
                  <a:tcPr anchor="ctr"/>
                </a:tc>
                <a:tc>
                  <a:txBody>
                    <a:bodyPr/>
                    <a:lstStyle/>
                    <a:p>
                      <a:r>
                        <a:rPr lang="en-US" sz="1400" dirty="0">
                          <a:latin typeface="Times New Roman" panose="02020603050405020304" pitchFamily="18" charset="0"/>
                          <a:cs typeface="Times New Roman" panose="02020603050405020304" pitchFamily="18" charset="0"/>
                        </a:rPr>
                        <a:t>Leveraging Machine Learning for Predictive Traceability in Supply Chains</a:t>
                      </a:r>
                    </a:p>
                  </a:txBody>
                  <a:tcPr anchor="ctr"/>
                </a:tc>
                <a:tc>
                  <a:txBody>
                    <a:bodyPr/>
                    <a:lstStyle/>
                    <a:p>
                      <a:r>
                        <a:rPr lang="en-IN" sz="1400" dirty="0">
                          <a:latin typeface="Times New Roman" panose="02020603050405020304" pitchFamily="18" charset="0"/>
                          <a:cs typeface="Times New Roman" panose="02020603050405020304" pitchFamily="18" charset="0"/>
                        </a:rPr>
                        <a:t>Kumar P., Rao S.</a:t>
                      </a:r>
                    </a:p>
                  </a:txBody>
                  <a:tcPr anchor="ctr"/>
                </a:tc>
                <a:tc>
                  <a:txBody>
                    <a:bodyPr/>
                    <a:lstStyle/>
                    <a:p>
                      <a:r>
                        <a:rPr lang="en-US" sz="1400" dirty="0">
                          <a:latin typeface="Times New Roman" panose="02020603050405020304" pitchFamily="18" charset="0"/>
                          <a:cs typeface="Times New Roman" panose="02020603050405020304" pitchFamily="18" charset="0"/>
                        </a:rPr>
                        <a:t>Machine learning models integrated into traceability systems to predict supply chain risks and optimize processes.</a:t>
                      </a:r>
                    </a:p>
                  </a:txBody>
                  <a:tcPr anchor="ctr"/>
                </a:tc>
                <a:tc>
                  <a:txBody>
                    <a:bodyPr/>
                    <a:lstStyle/>
                    <a:p>
                      <a:r>
                        <a:rPr lang="en-US" sz="1400" dirty="0">
                          <a:latin typeface="Times New Roman" panose="02020603050405020304" pitchFamily="18" charset="0"/>
                          <a:cs typeface="Times New Roman" panose="02020603050405020304" pitchFamily="18" charset="0"/>
                        </a:rPr>
                        <a:t>Improved efficiency through predictive analytics and early risk detection.</a:t>
                      </a:r>
                    </a:p>
                  </a:txBody>
                  <a:tcPr anchor="ctr"/>
                </a:tc>
                <a:tc>
                  <a:txBody>
                    <a:bodyPr/>
                    <a:lstStyle/>
                    <a:p>
                      <a:r>
                        <a:rPr lang="en-US" sz="1400" dirty="0">
                          <a:latin typeface="Times New Roman" panose="02020603050405020304" pitchFamily="18" charset="0"/>
                          <a:cs typeface="Times New Roman" panose="02020603050405020304" pitchFamily="18" charset="0"/>
                        </a:rPr>
                        <a:t>High computational costs and potential accuracy issues in diverse supply chains.</a:t>
                      </a:r>
                    </a:p>
                  </a:txBody>
                  <a:tcPr anchor="ctr"/>
                </a:tc>
                <a:tc>
                  <a:txBody>
                    <a:bodyPr/>
                    <a:lstStyle/>
                    <a:p>
                      <a:r>
                        <a:rPr lang="en-IN" sz="1400" dirty="0">
                          <a:latin typeface="Times New Roman" panose="02020603050405020304" pitchFamily="18" charset="0"/>
                          <a:cs typeface="Times New Roman" panose="02020603050405020304" pitchFamily="18" charset="0"/>
                        </a:rPr>
                        <a:t>2022</a:t>
                      </a:r>
                    </a:p>
                  </a:txBody>
                  <a:tcPr anchor="ctr"/>
                </a:tc>
                <a:extLst>
                  <a:ext uri="{0D108BD9-81ED-4DB2-BD59-A6C34878D82A}">
                    <a16:rowId xmlns:a16="http://schemas.microsoft.com/office/drawing/2014/main" val="4258222109"/>
                  </a:ext>
                </a:extLst>
              </a:tr>
              <a:tr h="1160193">
                <a:tc>
                  <a:txBody>
                    <a:bodyPr/>
                    <a:lstStyle/>
                    <a:p>
                      <a:r>
                        <a:rPr lang="en-IN" dirty="0">
                          <a:latin typeface="Times New Roman" panose="02020603050405020304" pitchFamily="18" charset="0"/>
                          <a:cs typeface="Times New Roman" panose="02020603050405020304" pitchFamily="18" charset="0"/>
                        </a:rPr>
                        <a:t>9</a:t>
                      </a:r>
                    </a:p>
                  </a:txBody>
                  <a:tcPr anchor="ctr"/>
                </a:tc>
                <a:tc>
                  <a:txBody>
                    <a:bodyPr/>
                    <a:lstStyle/>
                    <a:p>
                      <a:r>
                        <a:rPr lang="en-US" sz="1400" dirty="0">
                          <a:latin typeface="Times New Roman" panose="02020603050405020304" pitchFamily="18" charset="0"/>
                          <a:cs typeface="Times New Roman" panose="02020603050405020304" pitchFamily="18" charset="0"/>
                        </a:rPr>
                        <a:t>Privacy-Preserving Track and Trace System for Pharmaceutical Supply Chains</a:t>
                      </a:r>
                    </a:p>
                  </a:txBody>
                  <a:tcPr anchor="ctr"/>
                </a:tc>
                <a:tc>
                  <a:txBody>
                    <a:bodyPr/>
                    <a:lstStyle/>
                    <a:p>
                      <a:r>
                        <a:rPr lang="en-IN" sz="1400" dirty="0">
                          <a:latin typeface="Times New Roman" panose="02020603050405020304" pitchFamily="18" charset="0"/>
                          <a:cs typeface="Times New Roman" panose="02020603050405020304" pitchFamily="18" charset="0"/>
                        </a:rPr>
                        <a:t>Liu J., Evans M.</a:t>
                      </a:r>
                    </a:p>
                  </a:txBody>
                  <a:tcPr anchor="ctr"/>
                </a:tc>
                <a:tc>
                  <a:txBody>
                    <a:bodyPr/>
                    <a:lstStyle/>
                    <a:p>
                      <a:r>
                        <a:rPr lang="en-US" sz="1400" dirty="0">
                          <a:latin typeface="Times New Roman" panose="02020603050405020304" pitchFamily="18" charset="0"/>
                          <a:cs typeface="Times New Roman" panose="02020603050405020304" pitchFamily="18" charset="0"/>
                        </a:rPr>
                        <a:t>Uses homomorphic encryption and blockchain to ensure privacy while tracking pharmaceutical products across the supply chain.</a:t>
                      </a:r>
                    </a:p>
                  </a:txBody>
                  <a:tcPr anchor="ctr"/>
                </a:tc>
                <a:tc>
                  <a:txBody>
                    <a:bodyPr/>
                    <a:lstStyle/>
                    <a:p>
                      <a:r>
                        <a:rPr lang="en-US" sz="1400" dirty="0">
                          <a:latin typeface="Times New Roman" panose="02020603050405020304" pitchFamily="18" charset="0"/>
                          <a:cs typeface="Times New Roman" panose="02020603050405020304" pitchFamily="18" charset="0"/>
                        </a:rPr>
                        <a:t>Strengthened data security and privacy, reduced counterfeiting risks.</a:t>
                      </a:r>
                    </a:p>
                  </a:txBody>
                  <a:tcPr anchor="ctr"/>
                </a:tc>
                <a:tc>
                  <a:txBody>
                    <a:bodyPr/>
                    <a:lstStyle/>
                    <a:p>
                      <a:r>
                        <a:rPr lang="en-US" sz="1400" dirty="0">
                          <a:latin typeface="Times New Roman" panose="02020603050405020304" pitchFamily="18" charset="0"/>
                          <a:cs typeface="Times New Roman" panose="02020603050405020304" pitchFamily="18" charset="0"/>
                        </a:rPr>
                        <a:t>High computational overhead and complexity in encryption management.</a:t>
                      </a:r>
                    </a:p>
                  </a:txBody>
                  <a:tcPr anchor="ctr"/>
                </a:tc>
                <a:tc>
                  <a:txBody>
                    <a:bodyPr/>
                    <a:lstStyle/>
                    <a:p>
                      <a:r>
                        <a:rPr lang="en-IN" sz="1400" dirty="0">
                          <a:latin typeface="Times New Roman" panose="02020603050405020304" pitchFamily="18" charset="0"/>
                          <a:cs typeface="Times New Roman" panose="02020603050405020304" pitchFamily="18" charset="0"/>
                        </a:rPr>
                        <a:t>2023</a:t>
                      </a:r>
                    </a:p>
                  </a:txBody>
                  <a:tcPr anchor="ctr"/>
                </a:tc>
                <a:extLst>
                  <a:ext uri="{0D108BD9-81ED-4DB2-BD59-A6C34878D82A}">
                    <a16:rowId xmlns:a16="http://schemas.microsoft.com/office/drawing/2014/main" val="1404137732"/>
                  </a:ext>
                </a:extLst>
              </a:tr>
              <a:tr h="1027733">
                <a:tc>
                  <a:txBody>
                    <a:bodyPr/>
                    <a:lstStyle/>
                    <a:p>
                      <a:r>
                        <a:rPr lang="en-IN" dirty="0">
                          <a:latin typeface="Times New Roman" panose="02020603050405020304" pitchFamily="18" charset="0"/>
                          <a:cs typeface="Times New Roman" panose="02020603050405020304" pitchFamily="18" charset="0"/>
                        </a:rPr>
                        <a:t>10</a:t>
                      </a:r>
                    </a:p>
                  </a:txBody>
                  <a:tcPr anchor="ctr"/>
                </a:tc>
                <a:tc>
                  <a:txBody>
                    <a:bodyPr/>
                    <a:lstStyle/>
                    <a:p>
                      <a:r>
                        <a:rPr lang="en-US" sz="1400" dirty="0">
                          <a:latin typeface="Times New Roman" panose="02020603050405020304" pitchFamily="18" charset="0"/>
                          <a:cs typeface="Times New Roman" panose="02020603050405020304" pitchFamily="18" charset="0"/>
                        </a:rPr>
                        <a:t>Cloud-Based Track and Trace Systems for Global Supply Chains</a:t>
                      </a:r>
                    </a:p>
                  </a:txBody>
                  <a:tcPr anchor="ctr"/>
                </a:tc>
                <a:tc>
                  <a:txBody>
                    <a:bodyPr/>
                    <a:lstStyle/>
                    <a:p>
                      <a:r>
                        <a:rPr lang="en-IN" sz="1400" dirty="0">
                          <a:latin typeface="Times New Roman" panose="02020603050405020304" pitchFamily="18" charset="0"/>
                          <a:cs typeface="Times New Roman" panose="02020603050405020304" pitchFamily="18" charset="0"/>
                        </a:rPr>
                        <a:t>Wang R., Tan J.</a:t>
                      </a:r>
                    </a:p>
                  </a:txBody>
                  <a:tcPr anchor="ctr"/>
                </a:tc>
                <a:tc>
                  <a:txBody>
                    <a:bodyPr/>
                    <a:lstStyle/>
                    <a:p>
                      <a:r>
                        <a:rPr lang="en-US" sz="1400" dirty="0">
                          <a:latin typeface="Times New Roman" panose="02020603050405020304" pitchFamily="18" charset="0"/>
                          <a:cs typeface="Times New Roman" panose="02020603050405020304" pitchFamily="18" charset="0"/>
                        </a:rPr>
                        <a:t>A cloud-based platform providing real-time access to supply chain data for all stakeholders.</a:t>
                      </a:r>
                    </a:p>
                  </a:txBody>
                  <a:tcPr anchor="ctr"/>
                </a:tc>
                <a:tc>
                  <a:txBody>
                    <a:bodyPr/>
                    <a:lstStyle/>
                    <a:p>
                      <a:r>
                        <a:rPr lang="en-US" sz="1400" dirty="0">
                          <a:latin typeface="Times New Roman" panose="02020603050405020304" pitchFamily="18" charset="0"/>
                          <a:cs typeface="Times New Roman" panose="02020603050405020304" pitchFamily="18" charset="0"/>
                        </a:rPr>
                        <a:t>Increased collaboration and data sharing across global networks.</a:t>
                      </a:r>
                    </a:p>
                  </a:txBody>
                  <a:tcPr anchor="ctr"/>
                </a:tc>
                <a:tc>
                  <a:txBody>
                    <a:bodyPr/>
                    <a:lstStyle/>
                    <a:p>
                      <a:r>
                        <a:rPr lang="en-US" sz="1400" dirty="0">
                          <a:latin typeface="Times New Roman" panose="02020603050405020304" pitchFamily="18" charset="0"/>
                          <a:cs typeface="Times New Roman" panose="02020603050405020304" pitchFamily="18" charset="0"/>
                        </a:rPr>
                        <a:t>Potential security vulnerabilities and data breaches in centralized cloud systems.</a:t>
                      </a:r>
                    </a:p>
                  </a:txBody>
                  <a:tcPr anchor="ctr"/>
                </a:tc>
                <a:tc>
                  <a:txBody>
                    <a:bodyPr/>
                    <a:lstStyle/>
                    <a:p>
                      <a:r>
                        <a:rPr lang="en-IN" sz="1400" dirty="0">
                          <a:latin typeface="Times New Roman" panose="02020603050405020304" pitchFamily="18" charset="0"/>
                          <a:cs typeface="Times New Roman" panose="02020603050405020304" pitchFamily="18" charset="0"/>
                        </a:rPr>
                        <a:t>2023</a:t>
                      </a:r>
                    </a:p>
                  </a:txBody>
                  <a:tcPr anchor="ctr"/>
                </a:tc>
                <a:extLst>
                  <a:ext uri="{0D108BD9-81ED-4DB2-BD59-A6C34878D82A}">
                    <a16:rowId xmlns:a16="http://schemas.microsoft.com/office/drawing/2014/main" val="1440310940"/>
                  </a:ext>
                </a:extLst>
              </a:tr>
            </a:tbl>
          </a:graphicData>
        </a:graphic>
      </p:graphicFrame>
    </p:spTree>
    <p:extLst>
      <p:ext uri="{BB962C8B-B14F-4D97-AF65-F5344CB8AC3E}">
        <p14:creationId xmlns:p14="http://schemas.microsoft.com/office/powerpoint/2010/main" val="2887498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1A29BB-7FA7-EE62-93B2-B2F8A83209E4}"/>
              </a:ext>
            </a:extLst>
          </p:cNvPr>
          <p:cNvSpPr txBox="1"/>
          <p:nvPr/>
        </p:nvSpPr>
        <p:spPr>
          <a:xfrm>
            <a:off x="802640" y="358894"/>
            <a:ext cx="6096000" cy="523220"/>
          </a:xfrm>
          <a:prstGeom prst="rect">
            <a:avLst/>
          </a:prstGeom>
          <a:noFill/>
        </p:spPr>
        <p:txBody>
          <a:bodyPr wrap="square">
            <a:spAutoFit/>
          </a:bodyPr>
          <a:lstStyle/>
          <a:p>
            <a:r>
              <a:rPr lang="en-GB" sz="2800" b="1" dirty="0">
                <a:solidFill>
                  <a:schemeClr val="tx2">
                    <a:lumMod val="75000"/>
                  </a:schemeClr>
                </a:solidFill>
                <a:latin typeface="Verdana" panose="020B0604030504040204" pitchFamily="34" charset="0"/>
                <a:ea typeface="Verdana" panose="020B0604030504040204" pitchFamily="34" charset="0"/>
              </a:rPr>
              <a:t>Literature Review</a:t>
            </a:r>
            <a:endParaRPr lang="en-IN" sz="2800" b="1" dirty="0">
              <a:solidFill>
                <a:schemeClr val="tx2">
                  <a:lumMod val="75000"/>
                </a:schemeClr>
              </a:solidFill>
              <a:latin typeface="Verdana" panose="020B0604030504040204" pitchFamily="34" charset="0"/>
              <a:ea typeface="Verdana" panose="020B0604030504040204" pitchFamily="34" charset="0"/>
            </a:endParaRPr>
          </a:p>
        </p:txBody>
      </p:sp>
      <p:graphicFrame>
        <p:nvGraphicFramePr>
          <p:cNvPr id="4" name="Table 3">
            <a:extLst>
              <a:ext uri="{FF2B5EF4-FFF2-40B4-BE49-F238E27FC236}">
                <a16:creationId xmlns:a16="http://schemas.microsoft.com/office/drawing/2014/main" id="{F51732B7-7D46-7C91-7E3F-B825D12946B0}"/>
              </a:ext>
            </a:extLst>
          </p:cNvPr>
          <p:cNvGraphicFramePr>
            <a:graphicFrameLocks noGrp="1"/>
          </p:cNvGraphicFramePr>
          <p:nvPr>
            <p:extLst>
              <p:ext uri="{D42A27DB-BD31-4B8C-83A1-F6EECF244321}">
                <p14:modId xmlns:p14="http://schemas.microsoft.com/office/powerpoint/2010/main" val="3024474920"/>
              </p:ext>
            </p:extLst>
          </p:nvPr>
        </p:nvGraphicFramePr>
        <p:xfrm>
          <a:off x="0" y="965200"/>
          <a:ext cx="12191998" cy="5892800"/>
        </p:xfrm>
        <a:graphic>
          <a:graphicData uri="http://schemas.openxmlformats.org/drawingml/2006/table">
            <a:tbl>
              <a:tblPr firstRow="1" bandRow="1">
                <a:tableStyleId>{5C22544A-7EE6-4342-B048-85BDC9FD1C3A}</a:tableStyleId>
              </a:tblPr>
              <a:tblGrid>
                <a:gridCol w="701040">
                  <a:extLst>
                    <a:ext uri="{9D8B030D-6E8A-4147-A177-3AD203B41FA5}">
                      <a16:colId xmlns:a16="http://schemas.microsoft.com/office/drawing/2014/main" val="3888902258"/>
                    </a:ext>
                  </a:extLst>
                </a:gridCol>
                <a:gridCol w="1859280">
                  <a:extLst>
                    <a:ext uri="{9D8B030D-6E8A-4147-A177-3AD203B41FA5}">
                      <a16:colId xmlns:a16="http://schemas.microsoft.com/office/drawing/2014/main" val="4020288793"/>
                    </a:ext>
                  </a:extLst>
                </a:gridCol>
                <a:gridCol w="1717040">
                  <a:extLst>
                    <a:ext uri="{9D8B030D-6E8A-4147-A177-3AD203B41FA5}">
                      <a16:colId xmlns:a16="http://schemas.microsoft.com/office/drawing/2014/main" val="3458942831"/>
                    </a:ext>
                  </a:extLst>
                </a:gridCol>
                <a:gridCol w="2689496">
                  <a:extLst>
                    <a:ext uri="{9D8B030D-6E8A-4147-A177-3AD203B41FA5}">
                      <a16:colId xmlns:a16="http://schemas.microsoft.com/office/drawing/2014/main" val="3717652619"/>
                    </a:ext>
                  </a:extLst>
                </a:gridCol>
                <a:gridCol w="1912984">
                  <a:extLst>
                    <a:ext uri="{9D8B030D-6E8A-4147-A177-3AD203B41FA5}">
                      <a16:colId xmlns:a16="http://schemas.microsoft.com/office/drawing/2014/main" val="107328696"/>
                    </a:ext>
                  </a:extLst>
                </a:gridCol>
                <a:gridCol w="2245360">
                  <a:extLst>
                    <a:ext uri="{9D8B030D-6E8A-4147-A177-3AD203B41FA5}">
                      <a16:colId xmlns:a16="http://schemas.microsoft.com/office/drawing/2014/main" val="2834854041"/>
                    </a:ext>
                  </a:extLst>
                </a:gridCol>
                <a:gridCol w="1066798">
                  <a:extLst>
                    <a:ext uri="{9D8B030D-6E8A-4147-A177-3AD203B41FA5}">
                      <a16:colId xmlns:a16="http://schemas.microsoft.com/office/drawing/2014/main" val="303287986"/>
                    </a:ext>
                  </a:extLst>
                </a:gridCol>
              </a:tblGrid>
              <a:tr h="651320">
                <a:tc>
                  <a:txBody>
                    <a:bodyPr/>
                    <a:lstStyle/>
                    <a:p>
                      <a:r>
                        <a:rPr lang="en-IN" dirty="0">
                          <a:latin typeface="Times New Roman" panose="02020603050405020304" pitchFamily="18" charset="0"/>
                          <a:cs typeface="Times New Roman" panose="02020603050405020304" pitchFamily="18" charset="0"/>
                        </a:rPr>
                        <a:t>Sl.no.</a:t>
                      </a:r>
                    </a:p>
                  </a:txBody>
                  <a:tcPr anchor="ctr"/>
                </a:tc>
                <a:tc>
                  <a:txBody>
                    <a:bodyPr/>
                    <a:lstStyle/>
                    <a:p>
                      <a:r>
                        <a:rPr lang="en-IN" dirty="0">
                          <a:latin typeface="Times New Roman" panose="02020603050405020304" pitchFamily="18" charset="0"/>
                          <a:cs typeface="Times New Roman" panose="02020603050405020304" pitchFamily="18" charset="0"/>
                        </a:rPr>
                        <a:t>Paper Title</a:t>
                      </a:r>
                    </a:p>
                  </a:txBody>
                  <a:tcPr anchor="ctr"/>
                </a:tc>
                <a:tc>
                  <a:txBody>
                    <a:bodyPr/>
                    <a:lstStyle/>
                    <a:p>
                      <a:r>
                        <a:rPr lang="en-IN" dirty="0">
                          <a:latin typeface="Times New Roman" panose="02020603050405020304" pitchFamily="18" charset="0"/>
                          <a:cs typeface="Times New Roman" panose="02020603050405020304" pitchFamily="18" charset="0"/>
                        </a:rPr>
                        <a:t>Authors</a:t>
                      </a:r>
                    </a:p>
                  </a:txBody>
                  <a:tcPr anchor="ctr"/>
                </a:tc>
                <a:tc>
                  <a:txBody>
                    <a:bodyPr/>
                    <a:lstStyle/>
                    <a:p>
                      <a:r>
                        <a:rPr lang="en-IN" dirty="0">
                          <a:latin typeface="Times New Roman" panose="02020603050405020304" pitchFamily="18" charset="0"/>
                          <a:cs typeface="Times New Roman" panose="02020603050405020304" pitchFamily="18" charset="0"/>
                        </a:rPr>
                        <a:t>Proposed Model</a:t>
                      </a:r>
                    </a:p>
                  </a:txBody>
                  <a:tcPr anchor="ctr"/>
                </a:tc>
                <a:tc>
                  <a:txBody>
                    <a:bodyPr/>
                    <a:lstStyle/>
                    <a:p>
                      <a:r>
                        <a:rPr lang="en-IN" dirty="0">
                          <a:latin typeface="Times New Roman" panose="02020603050405020304" pitchFamily="18" charset="0"/>
                          <a:cs typeface="Times New Roman" panose="02020603050405020304" pitchFamily="18" charset="0"/>
                        </a:rPr>
                        <a:t>Results</a:t>
                      </a:r>
                    </a:p>
                  </a:txBody>
                  <a:tcPr anchor="ctr"/>
                </a:tc>
                <a:tc>
                  <a:txBody>
                    <a:bodyPr/>
                    <a:lstStyle/>
                    <a:p>
                      <a:r>
                        <a:rPr lang="en-IN" dirty="0">
                          <a:latin typeface="Times New Roman" panose="02020603050405020304" pitchFamily="18" charset="0"/>
                          <a:cs typeface="Times New Roman" panose="02020603050405020304" pitchFamily="18" charset="0"/>
                        </a:rPr>
                        <a:t>Drawbacks</a:t>
                      </a:r>
                    </a:p>
                  </a:txBody>
                  <a:tcPr anchor="ctr"/>
                </a:tc>
                <a:tc>
                  <a:txBody>
                    <a:bodyPr/>
                    <a:lstStyle/>
                    <a:p>
                      <a:r>
                        <a:rPr lang="en-IN" dirty="0">
                          <a:latin typeface="Times New Roman" panose="02020603050405020304" pitchFamily="18" charset="0"/>
                          <a:cs typeface="Times New Roman" panose="02020603050405020304" pitchFamily="18" charset="0"/>
                        </a:rPr>
                        <a:t>Year</a:t>
                      </a:r>
                    </a:p>
                  </a:txBody>
                  <a:tcPr anchor="ctr"/>
                </a:tc>
                <a:extLst>
                  <a:ext uri="{0D108BD9-81ED-4DB2-BD59-A6C34878D82A}">
                    <a16:rowId xmlns:a16="http://schemas.microsoft.com/office/drawing/2014/main" val="3458887063"/>
                  </a:ext>
                </a:extLst>
              </a:tr>
              <a:tr h="1015725">
                <a:tc>
                  <a:txBody>
                    <a:bodyPr/>
                    <a:lstStyle/>
                    <a:p>
                      <a:r>
                        <a:rPr lang="en-IN" dirty="0">
                          <a:latin typeface="Times New Roman" panose="02020603050405020304" pitchFamily="18" charset="0"/>
                          <a:cs typeface="Times New Roman" panose="02020603050405020304" pitchFamily="18" charset="0"/>
                        </a:rPr>
                        <a:t>11</a:t>
                      </a:r>
                    </a:p>
                  </a:txBody>
                  <a:tcPr anchor="ctr"/>
                </a:tc>
                <a:tc>
                  <a:txBody>
                    <a:bodyPr/>
                    <a:lstStyle/>
                    <a:p>
                      <a:r>
                        <a:rPr lang="en-US" sz="1400" dirty="0">
                          <a:latin typeface="Times New Roman" panose="02020603050405020304" pitchFamily="18" charset="0"/>
                          <a:cs typeface="Times New Roman" panose="02020603050405020304" pitchFamily="18" charset="0"/>
                        </a:rPr>
                        <a:t>Blockchain-Enabled Traceability for Sustainable Supply Chains</a:t>
                      </a:r>
                    </a:p>
                  </a:txBody>
                  <a:tcPr anchor="ctr"/>
                </a:tc>
                <a:tc>
                  <a:txBody>
                    <a:bodyPr/>
                    <a:lstStyle/>
                    <a:p>
                      <a:r>
                        <a:rPr lang="en-IN" sz="1400" dirty="0">
                          <a:latin typeface="Times New Roman" panose="02020603050405020304" pitchFamily="18" charset="0"/>
                          <a:cs typeface="Times New Roman" panose="02020603050405020304" pitchFamily="18" charset="0"/>
                        </a:rPr>
                        <a:t>Silva L., Martinez J.</a:t>
                      </a:r>
                    </a:p>
                  </a:txBody>
                  <a:tcPr anchor="ctr"/>
                </a:tc>
                <a:tc>
                  <a:txBody>
                    <a:bodyPr/>
                    <a:lstStyle/>
                    <a:p>
                      <a:r>
                        <a:rPr lang="en-US" sz="1400" dirty="0">
                          <a:latin typeface="Times New Roman" panose="02020603050405020304" pitchFamily="18" charset="0"/>
                          <a:cs typeface="Times New Roman" panose="02020603050405020304" pitchFamily="18" charset="0"/>
                        </a:rPr>
                        <a:t>Blockchain implementation to ensure traceability and transparency of sustainable and ethical sourcing in supply chains.</a:t>
                      </a:r>
                    </a:p>
                  </a:txBody>
                  <a:tcPr anchor="ctr"/>
                </a:tc>
                <a:tc>
                  <a:txBody>
                    <a:bodyPr/>
                    <a:lstStyle/>
                    <a:p>
                      <a:r>
                        <a:rPr lang="en-US" sz="1400" dirty="0">
                          <a:latin typeface="Times New Roman" panose="02020603050405020304" pitchFamily="18" charset="0"/>
                          <a:cs typeface="Times New Roman" panose="02020603050405020304" pitchFamily="18" charset="0"/>
                        </a:rPr>
                        <a:t>Improved compliance with sustainability standards and consumer trust.</a:t>
                      </a:r>
                    </a:p>
                  </a:txBody>
                  <a:tcPr anchor="ctr"/>
                </a:tc>
                <a:tc>
                  <a:txBody>
                    <a:bodyPr/>
                    <a:lstStyle/>
                    <a:p>
                      <a:r>
                        <a:rPr lang="en-US" sz="1400" dirty="0">
                          <a:latin typeface="Times New Roman" panose="02020603050405020304" pitchFamily="18" charset="0"/>
                          <a:cs typeface="Times New Roman" panose="02020603050405020304" pitchFamily="18" charset="0"/>
                        </a:rPr>
                        <a:t>High cost of adoption and integration with existing legacy systems.</a:t>
                      </a:r>
                    </a:p>
                  </a:txBody>
                  <a:tcPr anchor="ctr"/>
                </a:tc>
                <a:tc>
                  <a:txBody>
                    <a:bodyPr/>
                    <a:lstStyle/>
                    <a:p>
                      <a:r>
                        <a:rPr lang="en-IN" sz="1400" dirty="0">
                          <a:latin typeface="Times New Roman" panose="02020603050405020304" pitchFamily="18" charset="0"/>
                          <a:cs typeface="Times New Roman" panose="02020603050405020304" pitchFamily="18" charset="0"/>
                        </a:rPr>
                        <a:t>2020</a:t>
                      </a:r>
                    </a:p>
                  </a:txBody>
                  <a:tcPr anchor="ctr"/>
                </a:tc>
                <a:extLst>
                  <a:ext uri="{0D108BD9-81ED-4DB2-BD59-A6C34878D82A}">
                    <a16:rowId xmlns:a16="http://schemas.microsoft.com/office/drawing/2014/main" val="2131007423"/>
                  </a:ext>
                </a:extLst>
              </a:tr>
              <a:tr h="1178580">
                <a:tc>
                  <a:txBody>
                    <a:bodyPr/>
                    <a:lstStyle/>
                    <a:p>
                      <a:r>
                        <a:rPr lang="en-IN" dirty="0">
                          <a:latin typeface="Times New Roman" panose="02020603050405020304" pitchFamily="18" charset="0"/>
                          <a:cs typeface="Times New Roman" panose="02020603050405020304" pitchFamily="18" charset="0"/>
                        </a:rPr>
                        <a:t>12</a:t>
                      </a:r>
                    </a:p>
                  </a:txBody>
                  <a:tcPr anchor="ctr"/>
                </a:tc>
                <a:tc>
                  <a:txBody>
                    <a:bodyPr/>
                    <a:lstStyle/>
                    <a:p>
                      <a:r>
                        <a:rPr lang="en-US" sz="1400" dirty="0">
                          <a:latin typeface="Times New Roman" panose="02020603050405020304" pitchFamily="18" charset="0"/>
                          <a:cs typeface="Times New Roman" panose="02020603050405020304" pitchFamily="18" charset="0"/>
                        </a:rPr>
                        <a:t>IoT and Big Data in Supply Chain Traceability for Manufacturing</a:t>
                      </a:r>
                    </a:p>
                  </a:txBody>
                  <a:tcPr anchor="ctr"/>
                </a:tc>
                <a:tc>
                  <a:txBody>
                    <a:bodyPr/>
                    <a:lstStyle/>
                    <a:p>
                      <a:r>
                        <a:rPr lang="en-IN" sz="1400" dirty="0">
                          <a:latin typeface="Times New Roman" panose="02020603050405020304" pitchFamily="18" charset="0"/>
                          <a:cs typeface="Times New Roman" panose="02020603050405020304" pitchFamily="18" charset="0"/>
                        </a:rPr>
                        <a:t>Gonzalez F., Lee K.</a:t>
                      </a:r>
                    </a:p>
                  </a:txBody>
                  <a:tcPr anchor="ctr"/>
                </a:tc>
                <a:tc>
                  <a:txBody>
                    <a:bodyPr/>
                    <a:lstStyle/>
                    <a:p>
                      <a:r>
                        <a:rPr lang="en-US" sz="1400" dirty="0">
                          <a:latin typeface="Times New Roman" panose="02020603050405020304" pitchFamily="18" charset="0"/>
                          <a:cs typeface="Times New Roman" panose="02020603050405020304" pitchFamily="18" charset="0"/>
                        </a:rPr>
                        <a:t>Big data analytics combined with IoT devices for enhanced visibility of materials and products throughout manufacturing supply chains.</a:t>
                      </a:r>
                    </a:p>
                  </a:txBody>
                  <a:tcPr anchor="ctr"/>
                </a:tc>
                <a:tc>
                  <a:txBody>
                    <a:bodyPr/>
                    <a:lstStyle/>
                    <a:p>
                      <a:r>
                        <a:rPr lang="en-US" sz="1400" dirty="0">
                          <a:latin typeface="Times New Roman" panose="02020603050405020304" pitchFamily="18" charset="0"/>
                          <a:cs typeface="Times New Roman" panose="02020603050405020304" pitchFamily="18" charset="0"/>
                        </a:rPr>
                        <a:t>Increased accuracy in demand forecasting and improved operational efficiency.</a:t>
                      </a:r>
                    </a:p>
                  </a:txBody>
                  <a:tcPr anchor="ctr"/>
                </a:tc>
                <a:tc>
                  <a:txBody>
                    <a:bodyPr/>
                    <a:lstStyle/>
                    <a:p>
                      <a:r>
                        <a:rPr lang="en-US" sz="1400" dirty="0">
                          <a:latin typeface="Times New Roman" panose="02020603050405020304" pitchFamily="18" charset="0"/>
                          <a:cs typeface="Times New Roman" panose="02020603050405020304" pitchFamily="18" charset="0"/>
                        </a:rPr>
                        <a:t>Challenges with data integration and real-time analytics.</a:t>
                      </a:r>
                    </a:p>
                  </a:txBody>
                  <a:tcPr anchor="ctr"/>
                </a:tc>
                <a:tc>
                  <a:txBody>
                    <a:bodyPr/>
                    <a:lstStyle/>
                    <a:p>
                      <a:r>
                        <a:rPr lang="en-IN" sz="1400" dirty="0">
                          <a:latin typeface="Times New Roman" panose="02020603050405020304" pitchFamily="18" charset="0"/>
                          <a:cs typeface="Times New Roman" panose="02020603050405020304" pitchFamily="18" charset="0"/>
                        </a:rPr>
                        <a:t>2021</a:t>
                      </a:r>
                    </a:p>
                  </a:txBody>
                  <a:tcPr anchor="ctr"/>
                </a:tc>
                <a:extLst>
                  <a:ext uri="{0D108BD9-81ED-4DB2-BD59-A6C34878D82A}">
                    <a16:rowId xmlns:a16="http://schemas.microsoft.com/office/drawing/2014/main" val="61749042"/>
                  </a:ext>
                </a:extLst>
              </a:tr>
              <a:tr h="1015725">
                <a:tc>
                  <a:txBody>
                    <a:bodyPr/>
                    <a:lstStyle/>
                    <a:p>
                      <a:r>
                        <a:rPr lang="en-IN" dirty="0">
                          <a:latin typeface="Times New Roman" panose="02020603050405020304" pitchFamily="18" charset="0"/>
                          <a:cs typeface="Times New Roman" panose="02020603050405020304" pitchFamily="18" charset="0"/>
                        </a:rPr>
                        <a:t>13</a:t>
                      </a:r>
                    </a:p>
                  </a:txBody>
                  <a:tcPr anchor="ctr"/>
                </a:tc>
                <a:tc>
                  <a:txBody>
                    <a:bodyPr/>
                    <a:lstStyle/>
                    <a:p>
                      <a:r>
                        <a:rPr lang="en-US" sz="1400" dirty="0">
                          <a:latin typeface="Times New Roman" panose="02020603050405020304" pitchFamily="18" charset="0"/>
                          <a:cs typeface="Times New Roman" panose="02020603050405020304" pitchFamily="18" charset="0"/>
                        </a:rPr>
                        <a:t>Smart Contracts for Supply Chain Track and Trace Using Blockchain</a:t>
                      </a:r>
                    </a:p>
                  </a:txBody>
                  <a:tcPr anchor="ctr"/>
                </a:tc>
                <a:tc>
                  <a:txBody>
                    <a:bodyPr/>
                    <a:lstStyle/>
                    <a:p>
                      <a:r>
                        <a:rPr lang="en-IN" sz="1400" dirty="0">
                          <a:latin typeface="Times New Roman" panose="02020603050405020304" pitchFamily="18" charset="0"/>
                          <a:cs typeface="Times New Roman" panose="02020603050405020304" pitchFamily="18" charset="0"/>
                        </a:rPr>
                        <a:t>Turner A., Williams M.</a:t>
                      </a:r>
                    </a:p>
                  </a:txBody>
                  <a:tcPr anchor="ctr"/>
                </a:tc>
                <a:tc>
                  <a:txBody>
                    <a:bodyPr/>
                    <a:lstStyle/>
                    <a:p>
                      <a:r>
                        <a:rPr lang="en-US" sz="1400" dirty="0">
                          <a:latin typeface="Times New Roman" panose="02020603050405020304" pitchFamily="18" charset="0"/>
                          <a:cs typeface="Times New Roman" panose="02020603050405020304" pitchFamily="18" charset="0"/>
                        </a:rPr>
                        <a:t>Smart contracts to automate compliance and verification at each stage of the supply chain.</a:t>
                      </a:r>
                    </a:p>
                  </a:txBody>
                  <a:tcPr anchor="ctr"/>
                </a:tc>
                <a:tc>
                  <a:txBody>
                    <a:bodyPr/>
                    <a:lstStyle/>
                    <a:p>
                      <a:r>
                        <a:rPr lang="en-US" sz="1400" dirty="0">
                          <a:latin typeface="Times New Roman" panose="02020603050405020304" pitchFamily="18" charset="0"/>
                          <a:cs typeface="Times New Roman" panose="02020603050405020304" pitchFamily="18" charset="0"/>
                        </a:rPr>
                        <a:t>Reduced human errors and faster transaction verification.</a:t>
                      </a:r>
                    </a:p>
                  </a:txBody>
                  <a:tcPr anchor="ctr"/>
                </a:tc>
                <a:tc>
                  <a:txBody>
                    <a:bodyPr/>
                    <a:lstStyle/>
                    <a:p>
                      <a:r>
                        <a:rPr lang="en-US" sz="1400" dirty="0">
                          <a:latin typeface="Times New Roman" panose="02020603050405020304" pitchFamily="18" charset="0"/>
                          <a:cs typeface="Times New Roman" panose="02020603050405020304" pitchFamily="18" charset="0"/>
                        </a:rPr>
                        <a:t>Legal uncertainties and lack of standardized smart contract frameworks.</a:t>
                      </a:r>
                    </a:p>
                  </a:txBody>
                  <a:tcPr anchor="ctr"/>
                </a:tc>
                <a:tc>
                  <a:txBody>
                    <a:bodyPr/>
                    <a:lstStyle/>
                    <a:p>
                      <a:r>
                        <a:rPr lang="en-IN" sz="1400" dirty="0">
                          <a:latin typeface="Times New Roman" panose="02020603050405020304" pitchFamily="18" charset="0"/>
                          <a:cs typeface="Times New Roman" panose="02020603050405020304" pitchFamily="18" charset="0"/>
                        </a:rPr>
                        <a:t>2020</a:t>
                      </a:r>
                    </a:p>
                  </a:txBody>
                  <a:tcPr anchor="ctr"/>
                </a:tc>
                <a:extLst>
                  <a:ext uri="{0D108BD9-81ED-4DB2-BD59-A6C34878D82A}">
                    <a16:rowId xmlns:a16="http://schemas.microsoft.com/office/drawing/2014/main" val="2168847317"/>
                  </a:ext>
                </a:extLst>
              </a:tr>
              <a:tr h="1015725">
                <a:tc>
                  <a:txBody>
                    <a:bodyPr/>
                    <a:lstStyle/>
                    <a:p>
                      <a:r>
                        <a:rPr lang="en-IN" dirty="0">
                          <a:latin typeface="Times New Roman" panose="02020603050405020304" pitchFamily="18" charset="0"/>
                          <a:cs typeface="Times New Roman" panose="02020603050405020304" pitchFamily="18" charset="0"/>
                        </a:rPr>
                        <a:t>14</a:t>
                      </a:r>
                    </a:p>
                  </a:txBody>
                  <a:tcPr anchor="ctr"/>
                </a:tc>
                <a:tc>
                  <a:txBody>
                    <a:bodyPr/>
                    <a:lstStyle/>
                    <a:p>
                      <a:r>
                        <a:rPr lang="en-US" sz="1400" dirty="0">
                          <a:latin typeface="Times New Roman" panose="02020603050405020304" pitchFamily="18" charset="0"/>
                          <a:cs typeface="Times New Roman" panose="02020603050405020304" pitchFamily="18" charset="0"/>
                        </a:rPr>
                        <a:t>Blockchain and AI for Cold Chain Logistics</a:t>
                      </a:r>
                    </a:p>
                  </a:txBody>
                  <a:tcPr anchor="ctr"/>
                </a:tc>
                <a:tc>
                  <a:txBody>
                    <a:bodyPr/>
                    <a:lstStyle/>
                    <a:p>
                      <a:r>
                        <a:rPr lang="en-IN" sz="1400" dirty="0">
                          <a:latin typeface="Times New Roman" panose="02020603050405020304" pitchFamily="18" charset="0"/>
                          <a:cs typeface="Times New Roman" panose="02020603050405020304" pitchFamily="18" charset="0"/>
                        </a:rPr>
                        <a:t>Gupta N., Zhao H.</a:t>
                      </a:r>
                    </a:p>
                  </a:txBody>
                  <a:tcPr anchor="ctr"/>
                </a:tc>
                <a:tc>
                  <a:txBody>
                    <a:bodyPr/>
                    <a:lstStyle/>
                    <a:p>
                      <a:r>
                        <a:rPr lang="en-US" sz="1400" dirty="0">
                          <a:latin typeface="Times New Roman" panose="02020603050405020304" pitchFamily="18" charset="0"/>
                          <a:cs typeface="Times New Roman" panose="02020603050405020304" pitchFamily="18" charset="0"/>
                        </a:rPr>
                        <a:t>Combining AI algorithms with blockchain for real-time monitoring and anomaly detection in cold chain logistics.</a:t>
                      </a:r>
                    </a:p>
                  </a:txBody>
                  <a:tcPr anchor="ctr"/>
                </a:tc>
                <a:tc>
                  <a:txBody>
                    <a:bodyPr/>
                    <a:lstStyle/>
                    <a:p>
                      <a:r>
                        <a:rPr lang="en-US" sz="1400" dirty="0">
                          <a:latin typeface="Times New Roman" panose="02020603050405020304" pitchFamily="18" charset="0"/>
                          <a:cs typeface="Times New Roman" panose="02020603050405020304" pitchFamily="18" charset="0"/>
                        </a:rPr>
                        <a:t>Improved safety and reduced spoilage of temperature-sensitive products.</a:t>
                      </a:r>
                    </a:p>
                  </a:txBody>
                  <a:tcPr anchor="ctr"/>
                </a:tc>
                <a:tc>
                  <a:txBody>
                    <a:bodyPr/>
                    <a:lstStyle/>
                    <a:p>
                      <a:r>
                        <a:rPr lang="en-US" sz="1400" dirty="0">
                          <a:latin typeface="Times New Roman" panose="02020603050405020304" pitchFamily="18" charset="0"/>
                          <a:cs typeface="Times New Roman" panose="02020603050405020304" pitchFamily="18" charset="0"/>
                        </a:rPr>
                        <a:t>High data processing costs and technical challenges in sensor deployment.</a:t>
                      </a:r>
                    </a:p>
                  </a:txBody>
                  <a:tcPr anchor="ctr"/>
                </a:tc>
                <a:tc>
                  <a:txBody>
                    <a:bodyPr/>
                    <a:lstStyle/>
                    <a:p>
                      <a:r>
                        <a:rPr lang="en-IN" sz="1400" dirty="0">
                          <a:latin typeface="Times New Roman" panose="02020603050405020304" pitchFamily="18" charset="0"/>
                          <a:cs typeface="Times New Roman" panose="02020603050405020304" pitchFamily="18" charset="0"/>
                        </a:rPr>
                        <a:t>2021</a:t>
                      </a:r>
                    </a:p>
                  </a:txBody>
                  <a:tcPr anchor="ctr"/>
                </a:tc>
                <a:extLst>
                  <a:ext uri="{0D108BD9-81ED-4DB2-BD59-A6C34878D82A}">
                    <a16:rowId xmlns:a16="http://schemas.microsoft.com/office/drawing/2014/main" val="1728751580"/>
                  </a:ext>
                </a:extLst>
              </a:tr>
              <a:tr h="1015725">
                <a:tc>
                  <a:txBody>
                    <a:bodyPr/>
                    <a:lstStyle/>
                    <a:p>
                      <a:r>
                        <a:rPr lang="en-IN" dirty="0">
                          <a:latin typeface="Times New Roman" panose="02020603050405020304" pitchFamily="18" charset="0"/>
                          <a:cs typeface="Times New Roman" panose="02020603050405020304" pitchFamily="18" charset="0"/>
                        </a:rPr>
                        <a:t>15</a:t>
                      </a:r>
                    </a:p>
                  </a:txBody>
                  <a:tcPr anchor="ctr"/>
                </a:tc>
                <a:tc>
                  <a:txBody>
                    <a:bodyPr/>
                    <a:lstStyle/>
                    <a:p>
                      <a:r>
                        <a:rPr lang="en-US" sz="1400" dirty="0">
                          <a:latin typeface="Times New Roman" panose="02020603050405020304" pitchFamily="18" charset="0"/>
                          <a:cs typeface="Times New Roman" panose="02020603050405020304" pitchFamily="18" charset="0"/>
                        </a:rPr>
                        <a:t>Real-Time Supply Chain Monitoring Using IoT and Edge Computing</a:t>
                      </a:r>
                    </a:p>
                  </a:txBody>
                  <a:tcPr anchor="ctr"/>
                </a:tc>
                <a:tc>
                  <a:txBody>
                    <a:bodyPr/>
                    <a:lstStyle/>
                    <a:p>
                      <a:r>
                        <a:rPr lang="en-IN" sz="1400" dirty="0">
                          <a:latin typeface="Times New Roman" panose="02020603050405020304" pitchFamily="18" charset="0"/>
                          <a:cs typeface="Times New Roman" panose="02020603050405020304" pitchFamily="18" charset="0"/>
                        </a:rPr>
                        <a:t>Kumar S., Brown D.</a:t>
                      </a:r>
                    </a:p>
                  </a:txBody>
                  <a:tcPr anchor="ctr"/>
                </a:tc>
                <a:tc>
                  <a:txBody>
                    <a:bodyPr/>
                    <a:lstStyle/>
                    <a:p>
                      <a:r>
                        <a:rPr lang="en-US" sz="1400" dirty="0">
                          <a:latin typeface="Times New Roman" panose="02020603050405020304" pitchFamily="18" charset="0"/>
                          <a:cs typeface="Times New Roman" panose="02020603050405020304" pitchFamily="18" charset="0"/>
                        </a:rPr>
                        <a:t>IoT sensors integrated with edge computing to process and analyze supply chain data closer to the source.</a:t>
                      </a:r>
                    </a:p>
                  </a:txBody>
                  <a:tcPr anchor="ctr"/>
                </a:tc>
                <a:tc>
                  <a:txBody>
                    <a:bodyPr/>
                    <a:lstStyle/>
                    <a:p>
                      <a:r>
                        <a:rPr lang="en-US" sz="1400" dirty="0">
                          <a:latin typeface="Times New Roman" panose="02020603050405020304" pitchFamily="18" charset="0"/>
                          <a:cs typeface="Times New Roman" panose="02020603050405020304" pitchFamily="18" charset="0"/>
                        </a:rPr>
                        <a:t>Reduced latency and real-time decision-making capabilities.</a:t>
                      </a:r>
                    </a:p>
                  </a:txBody>
                  <a:tcPr anchor="ctr"/>
                </a:tc>
                <a:tc>
                  <a:txBody>
                    <a:bodyPr/>
                    <a:lstStyle/>
                    <a:p>
                      <a:r>
                        <a:rPr lang="en-US" sz="1400" dirty="0">
                          <a:latin typeface="Times New Roman" panose="02020603050405020304" pitchFamily="18" charset="0"/>
                          <a:cs typeface="Times New Roman" panose="02020603050405020304" pitchFamily="18" charset="0"/>
                        </a:rPr>
                        <a:t>Limited scalability and high initial infrastructure costs.</a:t>
                      </a:r>
                    </a:p>
                  </a:txBody>
                  <a:tcPr anchor="ctr"/>
                </a:tc>
                <a:tc>
                  <a:txBody>
                    <a:bodyPr/>
                    <a:lstStyle/>
                    <a:p>
                      <a:r>
                        <a:rPr lang="en-IN" sz="1400" dirty="0">
                          <a:latin typeface="Times New Roman" panose="02020603050405020304" pitchFamily="18" charset="0"/>
                          <a:cs typeface="Times New Roman" panose="02020603050405020304" pitchFamily="18" charset="0"/>
                        </a:rPr>
                        <a:t>2022</a:t>
                      </a:r>
                    </a:p>
                  </a:txBody>
                  <a:tcPr anchor="ctr"/>
                </a:tc>
                <a:extLst>
                  <a:ext uri="{0D108BD9-81ED-4DB2-BD59-A6C34878D82A}">
                    <a16:rowId xmlns:a16="http://schemas.microsoft.com/office/drawing/2014/main" val="887579841"/>
                  </a:ext>
                </a:extLst>
              </a:tr>
            </a:tbl>
          </a:graphicData>
        </a:graphic>
      </p:graphicFrame>
    </p:spTree>
    <p:extLst>
      <p:ext uri="{BB962C8B-B14F-4D97-AF65-F5344CB8AC3E}">
        <p14:creationId xmlns:p14="http://schemas.microsoft.com/office/powerpoint/2010/main" val="1205771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2A23F3-1819-5ACE-974A-2FD9E77B09F0}"/>
              </a:ext>
            </a:extLst>
          </p:cNvPr>
          <p:cNvSpPr txBox="1"/>
          <p:nvPr/>
        </p:nvSpPr>
        <p:spPr>
          <a:xfrm>
            <a:off x="914400" y="308094"/>
            <a:ext cx="6096000" cy="523220"/>
          </a:xfrm>
          <a:prstGeom prst="rect">
            <a:avLst/>
          </a:prstGeom>
          <a:noFill/>
        </p:spPr>
        <p:txBody>
          <a:bodyPr wrap="square">
            <a:spAutoFit/>
          </a:bodyPr>
          <a:lstStyle/>
          <a:p>
            <a:r>
              <a:rPr lang="en-GB" sz="2800" b="1" dirty="0">
                <a:solidFill>
                  <a:schemeClr val="tx2">
                    <a:lumMod val="75000"/>
                  </a:schemeClr>
                </a:solidFill>
                <a:latin typeface="Verdana" panose="020B0604030504040204" pitchFamily="34" charset="0"/>
                <a:ea typeface="Verdana" panose="020B0604030504040204" pitchFamily="34" charset="0"/>
              </a:rPr>
              <a:t>Literature Review</a:t>
            </a:r>
            <a:endParaRPr lang="en-IN" sz="2800" b="1" dirty="0">
              <a:solidFill>
                <a:schemeClr val="tx2">
                  <a:lumMod val="75000"/>
                </a:schemeClr>
              </a:solidFill>
              <a:latin typeface="Verdana" panose="020B0604030504040204" pitchFamily="34" charset="0"/>
              <a:ea typeface="Verdana" panose="020B0604030504040204" pitchFamily="34" charset="0"/>
            </a:endParaRPr>
          </a:p>
        </p:txBody>
      </p:sp>
      <p:graphicFrame>
        <p:nvGraphicFramePr>
          <p:cNvPr id="4" name="Table 3">
            <a:extLst>
              <a:ext uri="{FF2B5EF4-FFF2-40B4-BE49-F238E27FC236}">
                <a16:creationId xmlns:a16="http://schemas.microsoft.com/office/drawing/2014/main" id="{DFA3244A-EE4F-E830-51A5-19BFBB06BA81}"/>
              </a:ext>
            </a:extLst>
          </p:cNvPr>
          <p:cNvGraphicFramePr>
            <a:graphicFrameLocks noGrp="1"/>
          </p:cNvGraphicFramePr>
          <p:nvPr>
            <p:extLst>
              <p:ext uri="{D42A27DB-BD31-4B8C-83A1-F6EECF244321}">
                <p14:modId xmlns:p14="http://schemas.microsoft.com/office/powerpoint/2010/main" val="839821115"/>
              </p:ext>
            </p:extLst>
          </p:nvPr>
        </p:nvGraphicFramePr>
        <p:xfrm>
          <a:off x="0" y="985520"/>
          <a:ext cx="12191998" cy="5872478"/>
        </p:xfrm>
        <a:graphic>
          <a:graphicData uri="http://schemas.openxmlformats.org/drawingml/2006/table">
            <a:tbl>
              <a:tblPr firstRow="1" bandRow="1">
                <a:tableStyleId>{5C22544A-7EE6-4342-B048-85BDC9FD1C3A}</a:tableStyleId>
              </a:tblPr>
              <a:tblGrid>
                <a:gridCol w="589280">
                  <a:extLst>
                    <a:ext uri="{9D8B030D-6E8A-4147-A177-3AD203B41FA5}">
                      <a16:colId xmlns:a16="http://schemas.microsoft.com/office/drawing/2014/main" val="2341156166"/>
                    </a:ext>
                  </a:extLst>
                </a:gridCol>
                <a:gridCol w="2204720">
                  <a:extLst>
                    <a:ext uri="{9D8B030D-6E8A-4147-A177-3AD203B41FA5}">
                      <a16:colId xmlns:a16="http://schemas.microsoft.com/office/drawing/2014/main" val="4283442661"/>
                    </a:ext>
                  </a:extLst>
                </a:gridCol>
                <a:gridCol w="1524000">
                  <a:extLst>
                    <a:ext uri="{9D8B030D-6E8A-4147-A177-3AD203B41FA5}">
                      <a16:colId xmlns:a16="http://schemas.microsoft.com/office/drawing/2014/main" val="3157691165"/>
                    </a:ext>
                  </a:extLst>
                </a:gridCol>
                <a:gridCol w="2648856">
                  <a:extLst>
                    <a:ext uri="{9D8B030D-6E8A-4147-A177-3AD203B41FA5}">
                      <a16:colId xmlns:a16="http://schemas.microsoft.com/office/drawing/2014/main" val="4174934340"/>
                    </a:ext>
                  </a:extLst>
                </a:gridCol>
                <a:gridCol w="1638664">
                  <a:extLst>
                    <a:ext uri="{9D8B030D-6E8A-4147-A177-3AD203B41FA5}">
                      <a16:colId xmlns:a16="http://schemas.microsoft.com/office/drawing/2014/main" val="876977239"/>
                    </a:ext>
                  </a:extLst>
                </a:gridCol>
                <a:gridCol w="2854960">
                  <a:extLst>
                    <a:ext uri="{9D8B030D-6E8A-4147-A177-3AD203B41FA5}">
                      <a16:colId xmlns:a16="http://schemas.microsoft.com/office/drawing/2014/main" val="3483899583"/>
                    </a:ext>
                  </a:extLst>
                </a:gridCol>
                <a:gridCol w="731518">
                  <a:extLst>
                    <a:ext uri="{9D8B030D-6E8A-4147-A177-3AD203B41FA5}">
                      <a16:colId xmlns:a16="http://schemas.microsoft.com/office/drawing/2014/main" val="4230924459"/>
                    </a:ext>
                  </a:extLst>
                </a:gridCol>
              </a:tblGrid>
              <a:tr h="655626">
                <a:tc>
                  <a:txBody>
                    <a:bodyPr/>
                    <a:lstStyle/>
                    <a:p>
                      <a:r>
                        <a:rPr lang="en-IN" dirty="0"/>
                        <a:t>Sl.no.</a:t>
                      </a:r>
                    </a:p>
                  </a:txBody>
                  <a:tcPr anchor="ctr"/>
                </a:tc>
                <a:tc>
                  <a:txBody>
                    <a:bodyPr/>
                    <a:lstStyle/>
                    <a:p>
                      <a:r>
                        <a:rPr lang="en-IN"/>
                        <a:t>Paper Title</a:t>
                      </a:r>
                    </a:p>
                  </a:txBody>
                  <a:tcPr anchor="ctr"/>
                </a:tc>
                <a:tc>
                  <a:txBody>
                    <a:bodyPr/>
                    <a:lstStyle/>
                    <a:p>
                      <a:r>
                        <a:rPr lang="en-IN"/>
                        <a:t>Authors</a:t>
                      </a:r>
                    </a:p>
                  </a:txBody>
                  <a:tcPr anchor="ctr"/>
                </a:tc>
                <a:tc>
                  <a:txBody>
                    <a:bodyPr/>
                    <a:lstStyle/>
                    <a:p>
                      <a:r>
                        <a:rPr lang="en-IN"/>
                        <a:t>Proposed Model</a:t>
                      </a:r>
                    </a:p>
                  </a:txBody>
                  <a:tcPr anchor="ctr"/>
                </a:tc>
                <a:tc>
                  <a:txBody>
                    <a:bodyPr/>
                    <a:lstStyle/>
                    <a:p>
                      <a:r>
                        <a:rPr lang="en-IN" dirty="0"/>
                        <a:t>Results</a:t>
                      </a:r>
                    </a:p>
                  </a:txBody>
                  <a:tcPr anchor="ctr"/>
                </a:tc>
                <a:tc>
                  <a:txBody>
                    <a:bodyPr/>
                    <a:lstStyle/>
                    <a:p>
                      <a:r>
                        <a:rPr lang="en-IN" dirty="0"/>
                        <a:t>Drawbacks</a:t>
                      </a:r>
                    </a:p>
                  </a:txBody>
                  <a:tcPr anchor="ctr"/>
                </a:tc>
                <a:tc>
                  <a:txBody>
                    <a:bodyPr/>
                    <a:lstStyle/>
                    <a:p>
                      <a:r>
                        <a:rPr lang="en-IN" dirty="0"/>
                        <a:t>Year</a:t>
                      </a:r>
                    </a:p>
                  </a:txBody>
                  <a:tcPr anchor="ctr"/>
                </a:tc>
                <a:extLst>
                  <a:ext uri="{0D108BD9-81ED-4DB2-BD59-A6C34878D82A}">
                    <a16:rowId xmlns:a16="http://schemas.microsoft.com/office/drawing/2014/main" val="1350332403"/>
                  </a:ext>
                </a:extLst>
              </a:tr>
              <a:tr h="966492">
                <a:tc>
                  <a:txBody>
                    <a:bodyPr/>
                    <a:lstStyle/>
                    <a:p>
                      <a:r>
                        <a:rPr lang="en-IN" dirty="0">
                          <a:latin typeface="Times New Roman" panose="02020603050405020304" pitchFamily="18" charset="0"/>
                          <a:cs typeface="Times New Roman" panose="02020603050405020304" pitchFamily="18" charset="0"/>
                        </a:rPr>
                        <a:t>16</a:t>
                      </a:r>
                    </a:p>
                  </a:txBody>
                  <a:tcPr anchor="ctr"/>
                </a:tc>
                <a:tc>
                  <a:txBody>
                    <a:bodyPr/>
                    <a:lstStyle/>
                    <a:p>
                      <a:r>
                        <a:rPr lang="en-US" sz="1400" dirty="0">
                          <a:latin typeface="Times New Roman" panose="02020603050405020304" pitchFamily="18" charset="0"/>
                          <a:cs typeface="Times New Roman" panose="02020603050405020304" pitchFamily="18" charset="0"/>
                        </a:rPr>
                        <a:t>Blockchain for Traceability in Automotive Supply Chains</a:t>
                      </a:r>
                    </a:p>
                  </a:txBody>
                  <a:tcPr anchor="ctr"/>
                </a:tc>
                <a:tc>
                  <a:txBody>
                    <a:bodyPr/>
                    <a:lstStyle/>
                    <a:p>
                      <a:r>
                        <a:rPr lang="en-IN" sz="1400" dirty="0">
                          <a:latin typeface="Times New Roman" panose="02020603050405020304" pitchFamily="18" charset="0"/>
                          <a:cs typeface="Times New Roman" panose="02020603050405020304" pitchFamily="18" charset="0"/>
                        </a:rPr>
                        <a:t>Santos P., Young J.</a:t>
                      </a:r>
                    </a:p>
                  </a:txBody>
                  <a:tcPr anchor="ctr"/>
                </a:tc>
                <a:tc>
                  <a:txBody>
                    <a:bodyPr/>
                    <a:lstStyle/>
                    <a:p>
                      <a:r>
                        <a:rPr lang="en-US" sz="1400" dirty="0">
                          <a:latin typeface="Times New Roman" panose="02020603050405020304" pitchFamily="18" charset="0"/>
                          <a:cs typeface="Times New Roman" panose="02020603050405020304" pitchFamily="18" charset="0"/>
                        </a:rPr>
                        <a:t>A blockchain-based traceability system to monitor the provenance and lifecycle of automotive parts across the supply chain.</a:t>
                      </a:r>
                    </a:p>
                  </a:txBody>
                  <a:tcPr anchor="ctr"/>
                </a:tc>
                <a:tc>
                  <a:txBody>
                    <a:bodyPr/>
                    <a:lstStyle/>
                    <a:p>
                      <a:r>
                        <a:rPr lang="en-US" sz="1400" dirty="0">
                          <a:latin typeface="Times New Roman" panose="02020603050405020304" pitchFamily="18" charset="0"/>
                          <a:cs typeface="Times New Roman" panose="02020603050405020304" pitchFamily="18" charset="0"/>
                        </a:rPr>
                        <a:t>Enhanced product quality control and recall efficiency.</a:t>
                      </a:r>
                    </a:p>
                  </a:txBody>
                  <a:tcPr anchor="ctr"/>
                </a:tc>
                <a:tc>
                  <a:txBody>
                    <a:bodyPr/>
                    <a:lstStyle/>
                    <a:p>
                      <a:r>
                        <a:rPr lang="en-US" sz="1400" dirty="0">
                          <a:latin typeface="Times New Roman" panose="02020603050405020304" pitchFamily="18" charset="0"/>
                          <a:cs typeface="Times New Roman" panose="02020603050405020304" pitchFamily="18" charset="0"/>
                        </a:rPr>
                        <a:t>Issues with supplier adoption and data standardization across the automotive industry.</a:t>
                      </a:r>
                    </a:p>
                  </a:txBody>
                  <a:tcPr anchor="ctr"/>
                </a:tc>
                <a:tc>
                  <a:txBody>
                    <a:bodyPr/>
                    <a:lstStyle/>
                    <a:p>
                      <a:r>
                        <a:rPr lang="en-IN" sz="1400" dirty="0">
                          <a:latin typeface="Times New Roman" panose="02020603050405020304" pitchFamily="18" charset="0"/>
                          <a:cs typeface="Times New Roman" panose="02020603050405020304" pitchFamily="18" charset="0"/>
                        </a:rPr>
                        <a:t>2021</a:t>
                      </a:r>
                    </a:p>
                  </a:txBody>
                  <a:tcPr anchor="ctr"/>
                </a:tc>
                <a:extLst>
                  <a:ext uri="{0D108BD9-81ED-4DB2-BD59-A6C34878D82A}">
                    <a16:rowId xmlns:a16="http://schemas.microsoft.com/office/drawing/2014/main" val="3921804685"/>
                  </a:ext>
                </a:extLst>
              </a:tr>
              <a:tr h="1170389">
                <a:tc>
                  <a:txBody>
                    <a:bodyPr/>
                    <a:lstStyle/>
                    <a:p>
                      <a:r>
                        <a:rPr lang="en-IN" dirty="0">
                          <a:latin typeface="Times New Roman" panose="02020603050405020304" pitchFamily="18" charset="0"/>
                          <a:cs typeface="Times New Roman" panose="02020603050405020304" pitchFamily="18" charset="0"/>
                        </a:rPr>
                        <a:t>17</a:t>
                      </a:r>
                    </a:p>
                  </a:txBody>
                  <a:tcPr anchor="ctr"/>
                </a:tc>
                <a:tc>
                  <a:txBody>
                    <a:bodyPr/>
                    <a:lstStyle/>
                    <a:p>
                      <a:r>
                        <a:rPr lang="en-US" sz="1400" dirty="0">
                          <a:latin typeface="Times New Roman" panose="02020603050405020304" pitchFamily="18" charset="0"/>
                          <a:cs typeface="Times New Roman" panose="02020603050405020304" pitchFamily="18" charset="0"/>
                        </a:rPr>
                        <a:t>Digital Ledger Technology for Transparency in Pharmaceutical Supply Chains</a:t>
                      </a:r>
                    </a:p>
                  </a:txBody>
                  <a:tcPr anchor="ctr"/>
                </a:tc>
                <a:tc>
                  <a:txBody>
                    <a:bodyPr/>
                    <a:lstStyle/>
                    <a:p>
                      <a:r>
                        <a:rPr lang="en-IN" sz="1400" dirty="0">
                          <a:latin typeface="Times New Roman" panose="02020603050405020304" pitchFamily="18" charset="0"/>
                          <a:cs typeface="Times New Roman" panose="02020603050405020304" pitchFamily="18" charset="0"/>
                        </a:rPr>
                        <a:t>Novak I., Patel S.</a:t>
                      </a:r>
                    </a:p>
                  </a:txBody>
                  <a:tcPr anchor="ctr"/>
                </a:tc>
                <a:tc>
                  <a:txBody>
                    <a:bodyPr/>
                    <a:lstStyle/>
                    <a:p>
                      <a:r>
                        <a:rPr lang="en-US" sz="1400" dirty="0">
                          <a:latin typeface="Times New Roman" panose="02020603050405020304" pitchFamily="18" charset="0"/>
                          <a:cs typeface="Times New Roman" panose="02020603050405020304" pitchFamily="18" charset="0"/>
                        </a:rPr>
                        <a:t>Digital ledger technology to track the origin and authenticity of pharmaceutical products, ensuring compliance with safety regulations.</a:t>
                      </a:r>
                    </a:p>
                  </a:txBody>
                  <a:tcPr anchor="ctr"/>
                </a:tc>
                <a:tc>
                  <a:txBody>
                    <a:bodyPr/>
                    <a:lstStyle/>
                    <a:p>
                      <a:r>
                        <a:rPr lang="en-US" sz="1400" dirty="0">
                          <a:latin typeface="Times New Roman" panose="02020603050405020304" pitchFamily="18" charset="0"/>
                          <a:cs typeface="Times New Roman" panose="02020603050405020304" pitchFamily="18" charset="0"/>
                        </a:rPr>
                        <a:t>Reduced counterfeit drugs and improved regulatory compliance.</a:t>
                      </a:r>
                    </a:p>
                  </a:txBody>
                  <a:tcPr anchor="ctr"/>
                </a:tc>
                <a:tc>
                  <a:txBody>
                    <a:bodyPr/>
                    <a:lstStyle/>
                    <a:p>
                      <a:r>
                        <a:rPr lang="en-US" sz="1400" dirty="0">
                          <a:latin typeface="Times New Roman" panose="02020603050405020304" pitchFamily="18" charset="0"/>
                          <a:cs typeface="Times New Roman" panose="02020603050405020304" pitchFamily="18" charset="0"/>
                        </a:rPr>
                        <a:t>High initial setup costs and resistance from smaller supply chain players.</a:t>
                      </a:r>
                    </a:p>
                  </a:txBody>
                  <a:tcPr anchor="ctr"/>
                </a:tc>
                <a:tc>
                  <a:txBody>
                    <a:bodyPr/>
                    <a:lstStyle/>
                    <a:p>
                      <a:r>
                        <a:rPr lang="en-IN" sz="1400" dirty="0">
                          <a:latin typeface="Times New Roman" panose="02020603050405020304" pitchFamily="18" charset="0"/>
                          <a:cs typeface="Times New Roman" panose="02020603050405020304" pitchFamily="18" charset="0"/>
                        </a:rPr>
                        <a:t>2022</a:t>
                      </a:r>
                    </a:p>
                  </a:txBody>
                  <a:tcPr anchor="ctr"/>
                </a:tc>
                <a:extLst>
                  <a:ext uri="{0D108BD9-81ED-4DB2-BD59-A6C34878D82A}">
                    <a16:rowId xmlns:a16="http://schemas.microsoft.com/office/drawing/2014/main" val="2032828930"/>
                  </a:ext>
                </a:extLst>
              </a:tr>
              <a:tr h="954791">
                <a:tc>
                  <a:txBody>
                    <a:bodyPr/>
                    <a:lstStyle/>
                    <a:p>
                      <a:r>
                        <a:rPr lang="en-IN" dirty="0">
                          <a:latin typeface="Times New Roman" panose="02020603050405020304" pitchFamily="18" charset="0"/>
                          <a:cs typeface="Times New Roman" panose="02020603050405020304" pitchFamily="18" charset="0"/>
                        </a:rPr>
                        <a:t>18</a:t>
                      </a:r>
                    </a:p>
                  </a:txBody>
                  <a:tcPr anchor="ctr"/>
                </a:tc>
                <a:tc>
                  <a:txBody>
                    <a:bodyPr/>
                    <a:lstStyle/>
                    <a:p>
                      <a:r>
                        <a:rPr lang="en-US" sz="1400" dirty="0">
                          <a:latin typeface="Times New Roman" panose="02020603050405020304" pitchFamily="18" charset="0"/>
                          <a:cs typeface="Times New Roman" panose="02020603050405020304" pitchFamily="18" charset="0"/>
                        </a:rPr>
                        <a:t>RFID-Based Traceability Systems for Food Supply Chains</a:t>
                      </a:r>
                    </a:p>
                  </a:txBody>
                  <a:tcPr anchor="ctr"/>
                </a:tc>
                <a:tc>
                  <a:txBody>
                    <a:bodyPr/>
                    <a:lstStyle/>
                    <a:p>
                      <a:r>
                        <a:rPr lang="en-IN" sz="1400" dirty="0">
                          <a:latin typeface="Times New Roman" panose="02020603050405020304" pitchFamily="18" charset="0"/>
                          <a:cs typeface="Times New Roman" panose="02020603050405020304" pitchFamily="18" charset="0"/>
                        </a:rPr>
                        <a:t>Garcia A., Smith R.</a:t>
                      </a:r>
                    </a:p>
                  </a:txBody>
                  <a:tcPr anchor="ctr"/>
                </a:tc>
                <a:tc>
                  <a:txBody>
                    <a:bodyPr/>
                    <a:lstStyle/>
                    <a:p>
                      <a:r>
                        <a:rPr lang="en-US" sz="1400" dirty="0">
                          <a:latin typeface="Times New Roman" panose="02020603050405020304" pitchFamily="18" charset="0"/>
                          <a:cs typeface="Times New Roman" panose="02020603050405020304" pitchFamily="18" charset="0"/>
                        </a:rPr>
                        <a:t>RFID-enabled traceability for tracking food products from farm to table.</a:t>
                      </a:r>
                    </a:p>
                  </a:txBody>
                  <a:tcPr anchor="ctr"/>
                </a:tc>
                <a:tc>
                  <a:txBody>
                    <a:bodyPr/>
                    <a:lstStyle/>
                    <a:p>
                      <a:r>
                        <a:rPr lang="en-US" sz="1400" dirty="0">
                          <a:latin typeface="Times New Roman" panose="02020603050405020304" pitchFamily="18" charset="0"/>
                          <a:cs typeface="Times New Roman" panose="02020603050405020304" pitchFamily="18" charset="0"/>
                        </a:rPr>
                        <a:t>Improved food safety, reduced wastage, and faster recall processes.</a:t>
                      </a:r>
                    </a:p>
                  </a:txBody>
                  <a:tcPr anchor="ctr"/>
                </a:tc>
                <a:tc>
                  <a:txBody>
                    <a:bodyPr/>
                    <a:lstStyle/>
                    <a:p>
                      <a:r>
                        <a:rPr lang="en-US" sz="1400" dirty="0">
                          <a:latin typeface="Times New Roman" panose="02020603050405020304" pitchFamily="18" charset="0"/>
                          <a:cs typeface="Times New Roman" panose="02020603050405020304" pitchFamily="18" charset="0"/>
                        </a:rPr>
                        <a:t>Costly RFID tags and challenges in handling large-scale implementations.</a:t>
                      </a:r>
                    </a:p>
                  </a:txBody>
                  <a:tcPr anchor="ctr"/>
                </a:tc>
                <a:tc>
                  <a:txBody>
                    <a:bodyPr/>
                    <a:lstStyle/>
                    <a:p>
                      <a:r>
                        <a:rPr lang="en-IN" sz="1400" dirty="0">
                          <a:latin typeface="Times New Roman" panose="02020603050405020304" pitchFamily="18" charset="0"/>
                          <a:cs typeface="Times New Roman" panose="02020603050405020304" pitchFamily="18" charset="0"/>
                        </a:rPr>
                        <a:t>2021</a:t>
                      </a:r>
                    </a:p>
                  </a:txBody>
                  <a:tcPr anchor="ctr"/>
                </a:tc>
                <a:extLst>
                  <a:ext uri="{0D108BD9-81ED-4DB2-BD59-A6C34878D82A}">
                    <a16:rowId xmlns:a16="http://schemas.microsoft.com/office/drawing/2014/main" val="328644404"/>
                  </a:ext>
                </a:extLst>
              </a:tr>
              <a:tr h="954791">
                <a:tc>
                  <a:txBody>
                    <a:bodyPr/>
                    <a:lstStyle/>
                    <a:p>
                      <a:r>
                        <a:rPr lang="en-IN" dirty="0">
                          <a:latin typeface="Times New Roman" panose="02020603050405020304" pitchFamily="18" charset="0"/>
                          <a:cs typeface="Times New Roman" panose="02020603050405020304" pitchFamily="18" charset="0"/>
                        </a:rPr>
                        <a:t>19</a:t>
                      </a:r>
                    </a:p>
                  </a:txBody>
                  <a:tcPr anchor="ctr"/>
                </a:tc>
                <a:tc>
                  <a:txBody>
                    <a:bodyPr/>
                    <a:lstStyle/>
                    <a:p>
                      <a:r>
                        <a:rPr lang="en-US" sz="1400" dirty="0">
                          <a:latin typeface="Times New Roman" panose="02020603050405020304" pitchFamily="18" charset="0"/>
                          <a:cs typeface="Times New Roman" panose="02020603050405020304" pitchFamily="18" charset="0"/>
                        </a:rPr>
                        <a:t>AI-Powered Predictive Maintenance in Supply Chain Logistics</a:t>
                      </a:r>
                    </a:p>
                  </a:txBody>
                  <a:tcPr anchor="ctr"/>
                </a:tc>
                <a:tc>
                  <a:txBody>
                    <a:bodyPr/>
                    <a:lstStyle/>
                    <a:p>
                      <a:r>
                        <a:rPr lang="en-IN" sz="1400" dirty="0">
                          <a:latin typeface="Times New Roman" panose="02020603050405020304" pitchFamily="18" charset="0"/>
                          <a:cs typeface="Times New Roman" panose="02020603050405020304" pitchFamily="18" charset="0"/>
                        </a:rPr>
                        <a:t>Wei F., Carter J.</a:t>
                      </a:r>
                    </a:p>
                  </a:txBody>
                  <a:tcPr anchor="ctr"/>
                </a:tc>
                <a:tc>
                  <a:txBody>
                    <a:bodyPr/>
                    <a:lstStyle/>
                    <a:p>
                      <a:r>
                        <a:rPr lang="en-US" sz="1400" dirty="0">
                          <a:latin typeface="Times New Roman" panose="02020603050405020304" pitchFamily="18" charset="0"/>
                          <a:cs typeface="Times New Roman" panose="02020603050405020304" pitchFamily="18" charset="0"/>
                        </a:rPr>
                        <a:t>AI-powered predictive analytics used to monitor and maintain supply chain logistics equipment.</a:t>
                      </a:r>
                    </a:p>
                  </a:txBody>
                  <a:tcPr anchor="ctr"/>
                </a:tc>
                <a:tc>
                  <a:txBody>
                    <a:bodyPr/>
                    <a:lstStyle/>
                    <a:p>
                      <a:r>
                        <a:rPr lang="en-US" sz="1400" dirty="0">
                          <a:latin typeface="Times New Roman" panose="02020603050405020304" pitchFamily="18" charset="0"/>
                          <a:cs typeface="Times New Roman" panose="02020603050405020304" pitchFamily="18" charset="0"/>
                        </a:rPr>
                        <a:t>Increased equipment uptime and reduced maintenance costs.</a:t>
                      </a:r>
                    </a:p>
                  </a:txBody>
                  <a:tcPr anchor="ctr"/>
                </a:tc>
                <a:tc>
                  <a:txBody>
                    <a:bodyPr/>
                    <a:lstStyle/>
                    <a:p>
                      <a:r>
                        <a:rPr lang="en-US" sz="1400" dirty="0">
                          <a:latin typeface="Times New Roman" panose="02020603050405020304" pitchFamily="18" charset="0"/>
                          <a:cs typeface="Times New Roman" panose="02020603050405020304" pitchFamily="18" charset="0"/>
                        </a:rPr>
                        <a:t>Requires significant data collection and model training for accuracy.</a:t>
                      </a:r>
                    </a:p>
                  </a:txBody>
                  <a:tcPr anchor="ctr"/>
                </a:tc>
                <a:tc>
                  <a:txBody>
                    <a:bodyPr/>
                    <a:lstStyle/>
                    <a:p>
                      <a:r>
                        <a:rPr lang="en-IN" sz="1400" dirty="0">
                          <a:latin typeface="Times New Roman" panose="02020603050405020304" pitchFamily="18" charset="0"/>
                          <a:cs typeface="Times New Roman" panose="02020603050405020304" pitchFamily="18" charset="0"/>
                        </a:rPr>
                        <a:t>2022</a:t>
                      </a:r>
                    </a:p>
                  </a:txBody>
                  <a:tcPr anchor="ctr"/>
                </a:tc>
                <a:extLst>
                  <a:ext uri="{0D108BD9-81ED-4DB2-BD59-A6C34878D82A}">
                    <a16:rowId xmlns:a16="http://schemas.microsoft.com/office/drawing/2014/main" val="2709054505"/>
                  </a:ext>
                </a:extLst>
              </a:tr>
              <a:tr h="1170389">
                <a:tc>
                  <a:txBody>
                    <a:bodyPr/>
                    <a:lstStyle/>
                    <a:p>
                      <a:r>
                        <a:rPr lang="en-IN" dirty="0">
                          <a:latin typeface="Times New Roman" panose="02020603050405020304" pitchFamily="18" charset="0"/>
                          <a:cs typeface="Times New Roman" panose="02020603050405020304" pitchFamily="18" charset="0"/>
                        </a:rPr>
                        <a:t>20</a:t>
                      </a:r>
                    </a:p>
                  </a:txBody>
                  <a:tcPr anchor="ctr"/>
                </a:tc>
                <a:tc>
                  <a:txBody>
                    <a:bodyPr/>
                    <a:lstStyle/>
                    <a:p>
                      <a:r>
                        <a:rPr lang="en-US" sz="1400" dirty="0">
                          <a:latin typeface="Times New Roman" panose="02020603050405020304" pitchFamily="18" charset="0"/>
                          <a:cs typeface="Times New Roman" panose="02020603050405020304" pitchFamily="18" charset="0"/>
                        </a:rPr>
                        <a:t>Blockchain-Integrated IoT for Sustainable Seafood Supply Chain</a:t>
                      </a:r>
                    </a:p>
                  </a:txBody>
                  <a:tcPr anchor="ctr"/>
                </a:tc>
                <a:tc>
                  <a:txBody>
                    <a:bodyPr/>
                    <a:lstStyle/>
                    <a:p>
                      <a:r>
                        <a:rPr lang="en-IN" sz="1400" dirty="0">
                          <a:latin typeface="Times New Roman" panose="02020603050405020304" pitchFamily="18" charset="0"/>
                          <a:cs typeface="Times New Roman" panose="02020603050405020304" pitchFamily="18" charset="0"/>
                        </a:rPr>
                        <a:t>Rivera S., Han D.</a:t>
                      </a:r>
                    </a:p>
                  </a:txBody>
                  <a:tcPr anchor="ctr"/>
                </a:tc>
                <a:tc>
                  <a:txBody>
                    <a:bodyPr/>
                    <a:lstStyle/>
                    <a:p>
                      <a:r>
                        <a:rPr lang="en-US" sz="1400" dirty="0">
                          <a:latin typeface="Times New Roman" panose="02020603050405020304" pitchFamily="18" charset="0"/>
                          <a:cs typeface="Times New Roman" panose="02020603050405020304" pitchFamily="18" charset="0"/>
                        </a:rPr>
                        <a:t>Blockchain and IoT used to track and verify the sustainability of seafood products from ocean to consumer.</a:t>
                      </a:r>
                    </a:p>
                  </a:txBody>
                  <a:tcPr anchor="ctr"/>
                </a:tc>
                <a:tc>
                  <a:txBody>
                    <a:bodyPr/>
                    <a:lstStyle/>
                    <a:p>
                      <a:r>
                        <a:rPr lang="en-US" sz="1400" dirty="0">
                          <a:latin typeface="Times New Roman" panose="02020603050405020304" pitchFamily="18" charset="0"/>
                          <a:cs typeface="Times New Roman" panose="02020603050405020304" pitchFamily="18" charset="0"/>
                        </a:rPr>
                        <a:t>Improved sustainability certifications and reduced illegal fishing practices.</a:t>
                      </a:r>
                    </a:p>
                  </a:txBody>
                  <a:tcPr anchor="ctr"/>
                </a:tc>
                <a:tc>
                  <a:txBody>
                    <a:bodyPr/>
                    <a:lstStyle/>
                    <a:p>
                      <a:r>
                        <a:rPr lang="en-IN" sz="1400" dirty="0">
                          <a:latin typeface="Times New Roman" panose="02020603050405020304" pitchFamily="18" charset="0"/>
                          <a:cs typeface="Times New Roman" panose="02020603050405020304" pitchFamily="18" charset="0"/>
                        </a:rPr>
                        <a:t>Technical difficulties in integrating remote IoT devices in ocean environments.</a:t>
                      </a:r>
                    </a:p>
                  </a:txBody>
                  <a:tcPr anchor="ctr"/>
                </a:tc>
                <a:tc>
                  <a:txBody>
                    <a:bodyPr/>
                    <a:lstStyle/>
                    <a:p>
                      <a:r>
                        <a:rPr lang="en-IN" sz="1400" dirty="0">
                          <a:latin typeface="Times New Roman" panose="02020603050405020304" pitchFamily="18" charset="0"/>
                          <a:cs typeface="Times New Roman" panose="02020603050405020304" pitchFamily="18" charset="0"/>
                        </a:rPr>
                        <a:t>2023</a:t>
                      </a:r>
                    </a:p>
                  </a:txBody>
                  <a:tcPr anchor="ctr"/>
                </a:tc>
                <a:extLst>
                  <a:ext uri="{0D108BD9-81ED-4DB2-BD59-A6C34878D82A}">
                    <a16:rowId xmlns:a16="http://schemas.microsoft.com/office/drawing/2014/main" val="3347013054"/>
                  </a:ext>
                </a:extLst>
              </a:tr>
            </a:tbl>
          </a:graphicData>
        </a:graphic>
      </p:graphicFrame>
    </p:spTree>
    <p:extLst>
      <p:ext uri="{BB962C8B-B14F-4D97-AF65-F5344CB8AC3E}">
        <p14:creationId xmlns:p14="http://schemas.microsoft.com/office/powerpoint/2010/main" val="1610578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91458-3602-B88D-69F2-536F2B2C1F17}"/>
              </a:ext>
            </a:extLst>
          </p:cNvPr>
          <p:cNvSpPr>
            <a:spLocks noGrp="1"/>
          </p:cNvSpPr>
          <p:nvPr>
            <p:ph type="title"/>
          </p:nvPr>
        </p:nvSpPr>
        <p:spPr/>
        <p:txBody>
          <a:bodyPr/>
          <a:lstStyle/>
          <a:p>
            <a:r>
              <a:rPr lang="en-US" dirty="0"/>
              <a:t>Existing method Drawback</a:t>
            </a:r>
            <a:endParaRPr lang="en-IN" dirty="0"/>
          </a:p>
        </p:txBody>
      </p:sp>
      <p:sp>
        <p:nvSpPr>
          <p:cNvPr id="3" name="Content Placeholder 2">
            <a:extLst>
              <a:ext uri="{FF2B5EF4-FFF2-40B4-BE49-F238E27FC236}">
                <a16:creationId xmlns:a16="http://schemas.microsoft.com/office/drawing/2014/main" id="{6B8BBEEA-9AE3-9AD1-DBF4-A2CC98EF1B9B}"/>
              </a:ext>
            </a:extLst>
          </p:cNvPr>
          <p:cNvSpPr>
            <a:spLocks noGrp="1"/>
          </p:cNvSpPr>
          <p:nvPr>
            <p:ph idx="1"/>
          </p:nvPr>
        </p:nvSpPr>
        <p:spPr/>
        <p:txBody>
          <a:bodyPr>
            <a:normAutofit lnSpcReduction="10000"/>
          </a:bodyPr>
          <a:lstStyle/>
          <a:p>
            <a:pPr marL="0" indent="0">
              <a:buNone/>
            </a:pPr>
            <a:r>
              <a:rPr lang="en-US" sz="1900" dirty="0">
                <a:latin typeface="Cambria" panose="02040503050406030204" pitchFamily="18" charset="0"/>
                <a:ea typeface="Cambria" panose="02040503050406030204" pitchFamily="18" charset="0"/>
              </a:rPr>
              <a:t>Despite the advancements in track and trace technologies, several limitations and challenges are associated with the current methods. These drawbacks hinder the efficiency and reliability of supply chain operations.</a:t>
            </a:r>
          </a:p>
          <a:p>
            <a:pPr>
              <a:buFont typeface="Wingdings" panose="05000000000000000000" pitchFamily="2" charset="2"/>
              <a:buChar char="Ø"/>
            </a:pPr>
            <a:r>
              <a:rPr lang="en-IN" sz="1900" b="1" dirty="0">
                <a:latin typeface="Cambria" panose="02040503050406030204" pitchFamily="18" charset="0"/>
                <a:ea typeface="Cambria" panose="02040503050406030204" pitchFamily="18" charset="0"/>
              </a:rPr>
              <a:t>Lack of Real-Time Data</a:t>
            </a:r>
            <a:r>
              <a:rPr lang="en-US" sz="1900" dirty="0">
                <a:latin typeface="Cambria" panose="02040503050406030204" pitchFamily="18" charset="0"/>
                <a:ea typeface="Cambria" panose="02040503050406030204" pitchFamily="18" charset="0"/>
              </a:rPr>
              <a:t>:Many traditional track and trace systems rely on manual data entry or batch processing, leading to delays in data updates. Real-time visibility is often limited, resulting in slow responses to disruptions, delays, or unexpected changes in the supply chain.</a:t>
            </a:r>
          </a:p>
          <a:p>
            <a:pPr>
              <a:buFont typeface="Wingdings" panose="05000000000000000000" pitchFamily="2" charset="2"/>
              <a:buChar char="Ø"/>
            </a:pPr>
            <a:r>
              <a:rPr lang="en-US" sz="1900" b="1" dirty="0">
                <a:latin typeface="Cambria" panose="02040503050406030204" pitchFamily="18" charset="0"/>
                <a:ea typeface="Cambria" panose="02040503050406030204" pitchFamily="18" charset="0"/>
              </a:rPr>
              <a:t>Data Inconsistency and Integration Issues :</a:t>
            </a:r>
            <a:r>
              <a:rPr lang="en-US" sz="1900" dirty="0">
                <a:latin typeface="Cambria" panose="02040503050406030204" pitchFamily="18" charset="0"/>
                <a:ea typeface="Cambria" panose="02040503050406030204" pitchFamily="18" charset="0"/>
              </a:rPr>
              <a:t>Different stakeholders in the supply chain use various tracking systems and data formats, leading to inconsistencies . Integrating data from disparate systems (such as RFID, GPS, and ERP software) remains a significant challenge, affecting the accuracy of tracking and traceability.</a:t>
            </a:r>
            <a:endParaRPr lang="en-IN" sz="1900"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sz="1900" b="1" dirty="0">
                <a:latin typeface="Cambria" panose="02040503050406030204" pitchFamily="18" charset="0"/>
                <a:ea typeface="Cambria" panose="02040503050406030204" pitchFamily="18" charset="0"/>
              </a:rPr>
              <a:t>Security and Privacy Concerns : </a:t>
            </a:r>
            <a:r>
              <a:rPr lang="en-US" sz="1900" dirty="0">
                <a:latin typeface="Cambria" panose="02040503050406030204" pitchFamily="18" charset="0"/>
                <a:ea typeface="Cambria" panose="02040503050406030204" pitchFamily="18" charset="0"/>
              </a:rPr>
              <a:t>Data security is a major issue, as sensitive information regarding product origins, movement, and delivery details can be vulnerable to cyberattacks . Unauthorized access or data breaches can lead to significant financial losses, legal issues, and damage to brand reputation.</a:t>
            </a:r>
          </a:p>
          <a:p>
            <a:pPr>
              <a:buFont typeface="Wingdings" panose="05000000000000000000" pitchFamily="2" charset="2"/>
              <a:buChar char="Ø"/>
            </a:pPr>
            <a:r>
              <a:rPr lang="en-US" sz="1900" b="1" dirty="0">
                <a:latin typeface="Cambria" panose="02040503050406030204" pitchFamily="18" charset="0"/>
                <a:ea typeface="Cambria" panose="02040503050406030204" pitchFamily="18" charset="0"/>
              </a:rPr>
              <a:t>Dependence on Human Intervention : </a:t>
            </a:r>
            <a:r>
              <a:rPr lang="en-US" sz="1900" dirty="0">
                <a:latin typeface="Cambria" panose="02040503050406030204" pitchFamily="18" charset="0"/>
                <a:ea typeface="Cambria" panose="02040503050406030204" pitchFamily="18" charset="0"/>
              </a:rPr>
              <a:t>Traditional methods often require manual data entry and monitoring, increasing the chances of human error . Manual processes are time-consuming and prone to inaccuracies, which can compromise the efficiency of the entire supply chain.</a:t>
            </a:r>
          </a:p>
          <a:p>
            <a:pPr marL="0" indent="0">
              <a:buNone/>
            </a:pPr>
            <a:endParaRPr lang="en-US" sz="1600" dirty="0"/>
          </a:p>
        </p:txBody>
      </p:sp>
    </p:spTree>
    <p:extLst>
      <p:ext uri="{BB962C8B-B14F-4D97-AF65-F5344CB8AC3E}">
        <p14:creationId xmlns:p14="http://schemas.microsoft.com/office/powerpoint/2010/main" val="1637666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a:t>
            </a:r>
          </a:p>
        </p:txBody>
      </p:sp>
      <p:sp>
        <p:nvSpPr>
          <p:cNvPr id="3" name="Content Placeholder 2"/>
          <p:cNvSpPr>
            <a:spLocks noGrp="1"/>
          </p:cNvSpPr>
          <p:nvPr>
            <p:ph idx="1"/>
          </p:nvPr>
        </p:nvSpPr>
        <p:spPr/>
        <p:txBody>
          <a:bodyPr>
            <a:noAutofit/>
          </a:bodyPr>
          <a:lstStyle/>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Machine Learning for Predictive Analytics: </a:t>
            </a:r>
            <a:r>
              <a:rPr lang="en-US" sz="2000" dirty="0">
                <a:latin typeface="Cambria" panose="02040503050406030204" pitchFamily="18" charset="0"/>
                <a:ea typeface="Cambria" panose="02040503050406030204" pitchFamily="18" charset="0"/>
              </a:rPr>
              <a:t>Use machine learning algorithms to predict supply chain disruptions and optimize inventory levels.</a:t>
            </a:r>
          </a:p>
          <a:p>
            <a:r>
              <a:rPr lang="en-US" sz="2000" dirty="0">
                <a:latin typeface="Cambria" panose="02040503050406030204" pitchFamily="18" charset="0"/>
                <a:ea typeface="Cambria" panose="02040503050406030204" pitchFamily="18" charset="0"/>
              </a:rPr>
              <a:t>Benefits: Enables proactive decision-making and enhances resilience.</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Consumer Engagement Tools: </a:t>
            </a:r>
            <a:r>
              <a:rPr lang="en-US" sz="2000" dirty="0">
                <a:latin typeface="Cambria" panose="02040503050406030204" pitchFamily="18" charset="0"/>
                <a:ea typeface="Cambria" panose="02040503050406030204" pitchFamily="18" charset="0"/>
              </a:rPr>
              <a:t>Develop mobile apps or web interfaces that allow consumers to access product traceability information.</a:t>
            </a:r>
          </a:p>
          <a:p>
            <a:r>
              <a:rPr lang="en-US" sz="2000" dirty="0">
                <a:latin typeface="Cambria" panose="02040503050406030204" pitchFamily="18" charset="0"/>
                <a:ea typeface="Cambria" panose="02040503050406030204" pitchFamily="18" charset="0"/>
              </a:rPr>
              <a:t>Benefits: Increases consumer trust and engagement by providing transparency about product origins and journeys.</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Stakeholder Collaboration Platforms: </a:t>
            </a:r>
            <a:r>
              <a:rPr lang="en-US" sz="2000" dirty="0">
                <a:latin typeface="Cambria" panose="02040503050406030204" pitchFamily="18" charset="0"/>
                <a:ea typeface="Cambria" panose="02040503050406030204" pitchFamily="18" charset="0"/>
              </a:rPr>
              <a:t>Develop collaborative platforms for stakeholders (suppliers, manufacturers, logistics providers) to share information and coordinate activities.</a:t>
            </a:r>
          </a:p>
          <a:p>
            <a:r>
              <a:rPr lang="en-US" sz="2000" dirty="0">
                <a:latin typeface="Cambria" panose="02040503050406030204" pitchFamily="18" charset="0"/>
                <a:ea typeface="Cambria" panose="02040503050406030204" pitchFamily="18" charset="0"/>
              </a:rPr>
              <a:t>Benefits: Improves communication and collaboration, leading to a more responsive supply chain.</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Sustainability Tracking: </a:t>
            </a:r>
            <a:r>
              <a:rPr lang="en-US" sz="2000" dirty="0">
                <a:latin typeface="Cambria" panose="02040503050406030204" pitchFamily="18" charset="0"/>
                <a:ea typeface="Cambria" panose="02040503050406030204" pitchFamily="18" charset="0"/>
              </a:rPr>
              <a:t>Incorporate methods to track and report on sustainability practices within the supply chain.</a:t>
            </a:r>
          </a:p>
          <a:p>
            <a:r>
              <a:rPr lang="en-US" sz="2000" dirty="0">
                <a:latin typeface="Cambria" panose="02040503050406030204" pitchFamily="18" charset="0"/>
                <a:ea typeface="Cambria" panose="02040503050406030204" pitchFamily="18" charset="0"/>
              </a:rPr>
              <a:t>Benefits: Helps organizations meet regulatory requirements and consumer demand for sustainable practices.</a:t>
            </a:r>
          </a:p>
          <a:p>
            <a:pPr marL="0" indent="0">
              <a:buNone/>
            </a:pPr>
            <a:endParaRPr lang="en-US" sz="1400" dirty="0"/>
          </a:p>
          <a:p>
            <a:pPr marL="0" indent="0">
              <a:buNone/>
            </a:pPr>
            <a:endParaRPr lang="en-GB"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59618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Objectives</a:t>
            </a:r>
          </a:p>
        </p:txBody>
      </p:sp>
      <p:sp>
        <p:nvSpPr>
          <p:cNvPr id="3" name="Content Placeholder 2"/>
          <p:cNvSpPr>
            <a:spLocks noGrp="1"/>
          </p:cNvSpPr>
          <p:nvPr>
            <p:ph idx="1"/>
          </p:nvPr>
        </p:nvSpPr>
        <p:spPr/>
        <p:txBody>
          <a:bodyPr>
            <a:normAutofit lnSpcReduction="10000"/>
          </a:bodyPr>
          <a:lstStyle/>
          <a:p>
            <a:pPr marL="0" indent="0">
              <a:buNone/>
            </a:pPr>
            <a:r>
              <a:rPr lang="en-US" sz="2000" dirty="0">
                <a:latin typeface="Cambria" panose="02040503050406030204" pitchFamily="18" charset="0"/>
                <a:ea typeface="Cambria" panose="02040503050406030204" pitchFamily="18" charset="0"/>
              </a:rPr>
              <a:t>The primary objectives of implementing a track and trace system in the supply chain are to enhance transparency, improve efficiency, and ensure that products move seamlessly from origin to destination while maintaining high standards of quality and safety.</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 Enhance Transparency : </a:t>
            </a:r>
            <a:r>
              <a:rPr lang="en-US" sz="2000" dirty="0">
                <a:latin typeface="Cambria" panose="02040503050406030204" pitchFamily="18" charset="0"/>
                <a:ea typeface="Cambria" panose="02040503050406030204" pitchFamily="18" charset="0"/>
              </a:rPr>
              <a:t>Provide visibility into the movement of goods throughout the supply chain. Enable all stakeholders to track the journey of products from origin to end consumer.</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Improve Product Safety : </a:t>
            </a:r>
            <a:r>
              <a:rPr lang="en-US" sz="2000" dirty="0">
                <a:latin typeface="Cambria" panose="02040503050406030204" pitchFamily="18" charset="0"/>
                <a:ea typeface="Cambria" panose="02040503050406030204" pitchFamily="18" charset="0"/>
              </a:rPr>
              <a:t>Monitor products for quality and safety at each stage of the supply chain. Quickly identify and address issues related to recalls or contamination.</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Increase Efficiency: </a:t>
            </a:r>
            <a:r>
              <a:rPr lang="en-US" sz="2000" dirty="0">
                <a:latin typeface="Cambria" panose="02040503050406030204" pitchFamily="18" charset="0"/>
                <a:ea typeface="Cambria" panose="02040503050406030204" pitchFamily="18" charset="0"/>
              </a:rPr>
              <a:t>Streamline processes by minimizing delays and reducing errors in inventory management  Optimize logistics and resource allocation through real-time data access.</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Ensure Compliance : </a:t>
            </a:r>
            <a:r>
              <a:rPr lang="en-US" sz="2000" dirty="0">
                <a:latin typeface="Cambria" panose="02040503050406030204" pitchFamily="18" charset="0"/>
                <a:ea typeface="Cambria" panose="02040503050406030204" pitchFamily="18" charset="0"/>
              </a:rPr>
              <a:t>Meet regulatory requirements by maintaining accurate records of product history. Facilitate audits and inspections with readily available traceability data.</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Enable Quick Response to Issues: </a:t>
            </a:r>
            <a:r>
              <a:rPr lang="en-US" sz="2000" dirty="0">
                <a:latin typeface="Cambria" panose="02040503050406030204" pitchFamily="18" charset="0"/>
                <a:ea typeface="Cambria" panose="02040503050406030204" pitchFamily="18" charset="0"/>
              </a:rPr>
              <a:t>Rapidly trace affected products in case of recalls or safety alerts. Enhance crisis management capabilities by having detailed tracking information.</a:t>
            </a:r>
          </a:p>
          <a:p>
            <a:pPr>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marL="0" indent="0">
              <a:buNone/>
            </a:pPr>
            <a:endParaRPr lang="en-US" sz="1400" dirty="0"/>
          </a:p>
          <a:p>
            <a:pPr marL="0" indent="0">
              <a:buNone/>
            </a:pPr>
            <a:endParaRPr lang="en-GB"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66729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Methodology/Modules</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IN" sz="2000" b="1" dirty="0">
                <a:latin typeface="Cambria" panose="02040503050406030204" pitchFamily="18" charset="0"/>
                <a:ea typeface="Cambria" panose="02040503050406030204" pitchFamily="18" charset="0"/>
              </a:rPr>
              <a:t>Identification and Data Capture:</a:t>
            </a:r>
            <a:r>
              <a:rPr lang="en-IN" sz="2000" dirty="0">
                <a:latin typeface="Cambria" panose="02040503050406030204" pitchFamily="18" charset="0"/>
                <a:ea typeface="Cambria" panose="02040503050406030204" pitchFamily="18" charset="0"/>
              </a:rPr>
              <a:t> Barcode/RFID Technology Utilize barcodes or RFID tags for unique product identification. Data Entry Systems Implement systems for capturing product information at various stages, including production, packaging, and shipping.</a:t>
            </a:r>
          </a:p>
          <a:p>
            <a:pPr>
              <a:buFont typeface="Wingdings" panose="05000000000000000000" pitchFamily="2" charset="2"/>
              <a:buChar char="Ø"/>
            </a:pPr>
            <a:r>
              <a:rPr lang="en-IN" sz="2000" b="1" dirty="0">
                <a:latin typeface="Cambria" panose="02040503050406030204" pitchFamily="18" charset="0"/>
                <a:ea typeface="Cambria" panose="02040503050406030204" pitchFamily="18" charset="0"/>
              </a:rPr>
              <a:t>Data Integration:</a:t>
            </a:r>
            <a:r>
              <a:rPr lang="en-IN" sz="2000" dirty="0">
                <a:latin typeface="Cambria" panose="02040503050406030204" pitchFamily="18" charset="0"/>
                <a:ea typeface="Cambria" panose="02040503050406030204" pitchFamily="18" charset="0"/>
              </a:rPr>
              <a:t> Centralized Database Establish a centralized system to aggregate data from various sources (manufacturers, suppliers, distributors). Interoperability Ensure that different systems (ERP, WMS) can communicate and share data seamlessly.</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Tracking Mechanisms:</a:t>
            </a:r>
            <a:r>
              <a:rPr lang="en-US" sz="2000" dirty="0">
                <a:latin typeface="Cambria" panose="02040503050406030204" pitchFamily="18" charset="0"/>
                <a:ea typeface="Cambria" panose="02040503050406030204" pitchFamily="18" charset="0"/>
              </a:rPr>
              <a:t> Real-Time Tracking Use GPS and IoT devices to monitor the location and condition of products in transit. Timestamping Record time and location data at each stage of the supply chain to create a chronological product history.</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Data Analysis and Visualization:</a:t>
            </a:r>
            <a:r>
              <a:rPr lang="en-US" sz="2000" dirty="0">
                <a:latin typeface="Cambria" panose="02040503050406030204" pitchFamily="18" charset="0"/>
                <a:ea typeface="Cambria" panose="02040503050406030204" pitchFamily="18" charset="0"/>
              </a:rPr>
              <a:t> Data Analytics Tools Implement analytical tools to process and analyze traceability data for insights. Dashboards Create visual dashboards to provide stakeholders with real-time access to supply chain information.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Arial" panose="020B0604020202020204" pitchFamily="34" charset="0"/>
              </a:rPr>
              <a:t>Verification and Validation:</a:t>
            </a:r>
            <a:r>
              <a:rPr lang="en-US" altLang="en-US" sz="2000" dirty="0">
                <a:latin typeface="Arial" panose="020B0604020202020204" pitchFamily="34" charset="0"/>
              </a:rPr>
              <a:t> </a:t>
            </a:r>
            <a:r>
              <a:rPr kumimoji="0" lang="en-US" altLang="en-US" sz="2000" i="0" u="none" strike="noStrike" cap="none" normalizeH="0" baseline="0" dirty="0">
                <a:ln>
                  <a:noFill/>
                </a:ln>
                <a:solidFill>
                  <a:schemeClr val="tx1"/>
                </a:solidFill>
                <a:effectLst/>
                <a:latin typeface="Arial" panose="020B0604020202020204" pitchFamily="34" charset="0"/>
              </a:rPr>
              <a:t>Quality Control Checks </a:t>
            </a:r>
            <a:r>
              <a:rPr kumimoji="0" lang="en-US" altLang="en-US" sz="2000" b="0" i="0" u="none" strike="noStrike" cap="none" normalizeH="0" baseline="0" dirty="0">
                <a:ln>
                  <a:noFill/>
                </a:ln>
                <a:solidFill>
                  <a:schemeClr val="tx1"/>
                </a:solidFill>
                <a:effectLst/>
                <a:latin typeface="Arial" panose="020B0604020202020204" pitchFamily="34" charset="0"/>
              </a:rPr>
              <a:t>Conduct regular inspections and audits to verify product authenticity and quality. </a:t>
            </a:r>
            <a:r>
              <a:rPr kumimoji="0" lang="en-US" altLang="en-US" sz="2000" i="0" u="none" strike="noStrike" cap="none" normalizeH="0" baseline="0" dirty="0">
                <a:ln>
                  <a:noFill/>
                </a:ln>
                <a:solidFill>
                  <a:schemeClr val="tx1"/>
                </a:solidFill>
                <a:effectLst/>
                <a:latin typeface="Arial" panose="020B0604020202020204" pitchFamily="34" charset="0"/>
              </a:rPr>
              <a:t>Blockchain Technology </a:t>
            </a:r>
            <a:r>
              <a:rPr kumimoji="0" lang="en-US" altLang="en-US" sz="2000" b="0" i="0" u="none" strike="noStrike" cap="none" normalizeH="0" baseline="0" dirty="0">
                <a:ln>
                  <a:noFill/>
                </a:ln>
                <a:solidFill>
                  <a:schemeClr val="tx1"/>
                </a:solidFill>
                <a:effectLst/>
                <a:latin typeface="Arial" panose="020B0604020202020204" pitchFamily="34" charset="0"/>
              </a:rPr>
              <a:t>Explore the use of blockchain for immutable record-keeping and verification.</a:t>
            </a:r>
          </a:p>
          <a:p>
            <a:pPr marL="0" indent="0">
              <a:buNone/>
            </a:pPr>
            <a:endParaRPr lang="en-US" sz="1800" dirty="0">
              <a:latin typeface="Cambria" panose="02040503050406030204" pitchFamily="18" charset="0"/>
              <a:ea typeface="Cambria" panose="02040503050406030204" pitchFamily="18" charset="0"/>
            </a:endParaRPr>
          </a:p>
          <a:p>
            <a:pPr marL="0" indent="0">
              <a:buNone/>
            </a:pPr>
            <a:endParaRPr lang="en-US" sz="800" dirty="0"/>
          </a:p>
          <a:p>
            <a:pPr marL="0" indent="0">
              <a:buNone/>
            </a:pPr>
            <a:endParaRPr lang="en-US" sz="800" dirty="0"/>
          </a:p>
          <a:p>
            <a:pPr marL="0" indent="0">
              <a:buNone/>
            </a:pPr>
            <a:endParaRPr lang="en-US" sz="800" dirty="0"/>
          </a:p>
          <a:p>
            <a:pPr marL="0" indent="0">
              <a:buNone/>
            </a:pPr>
            <a:endParaRPr lang="en-IN" sz="800" dirty="0"/>
          </a:p>
          <a:p>
            <a:pPr marL="0" indent="0">
              <a:buNone/>
            </a:pPr>
            <a:endParaRPr lang="en-GB" sz="1000" dirty="0"/>
          </a:p>
        </p:txBody>
      </p:sp>
    </p:spTree>
    <p:extLst>
      <p:ext uri="{BB962C8B-B14F-4D97-AF65-F5344CB8AC3E}">
        <p14:creationId xmlns:p14="http://schemas.microsoft.com/office/powerpoint/2010/main" val="2314944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2E2A5A-797C-FA92-F04A-023AF80EE9DE}"/>
              </a:ext>
            </a:extLst>
          </p:cNvPr>
          <p:cNvSpPr txBox="1"/>
          <p:nvPr/>
        </p:nvSpPr>
        <p:spPr>
          <a:xfrm>
            <a:off x="894080" y="419854"/>
            <a:ext cx="6096000" cy="523220"/>
          </a:xfrm>
          <a:prstGeom prst="rect">
            <a:avLst/>
          </a:prstGeom>
          <a:noFill/>
        </p:spPr>
        <p:txBody>
          <a:bodyPr wrap="square">
            <a:spAutoFit/>
          </a:bodyPr>
          <a:lstStyle/>
          <a:p>
            <a:r>
              <a:rPr lang="en-GB" sz="2800" b="1" dirty="0">
                <a:solidFill>
                  <a:schemeClr val="tx2"/>
                </a:solidFill>
                <a:latin typeface="Verdana" panose="020B0604030504040204" pitchFamily="34" charset="0"/>
                <a:ea typeface="Verdana" panose="020B0604030504040204" pitchFamily="34" charset="0"/>
              </a:rPr>
              <a:t>Methodology/Modules</a:t>
            </a:r>
            <a:endParaRPr lang="en-IN" sz="2800" b="1" dirty="0">
              <a:solidFill>
                <a:schemeClr val="tx2"/>
              </a:solidFill>
              <a:latin typeface="Verdana" panose="020B0604030504040204" pitchFamily="34" charset="0"/>
              <a:ea typeface="Verdana" panose="020B0604030504040204" pitchFamily="34" charset="0"/>
            </a:endParaRPr>
          </a:p>
        </p:txBody>
      </p:sp>
      <p:sp>
        <p:nvSpPr>
          <p:cNvPr id="5" name="TextBox 4">
            <a:extLst>
              <a:ext uri="{FF2B5EF4-FFF2-40B4-BE49-F238E27FC236}">
                <a16:creationId xmlns:a16="http://schemas.microsoft.com/office/drawing/2014/main" id="{784291F3-892A-8DBD-AF1D-0FEA4E4B921C}"/>
              </a:ext>
            </a:extLst>
          </p:cNvPr>
          <p:cNvSpPr txBox="1"/>
          <p:nvPr/>
        </p:nvSpPr>
        <p:spPr>
          <a:xfrm>
            <a:off x="802640" y="1168400"/>
            <a:ext cx="11074400" cy="3139321"/>
          </a:xfrm>
          <a:prstGeom prst="rect">
            <a:avLst/>
          </a:prstGeom>
          <a:noFill/>
        </p:spPr>
        <p:txBody>
          <a:bodyPr wrap="square">
            <a:spAutoFit/>
          </a:bodyPr>
          <a:lstStyle/>
          <a:p>
            <a:pPr marL="342900" indent="-342900">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Communication and Reporting:</a:t>
            </a:r>
            <a:r>
              <a:rPr lang="en-US" sz="2000" dirty="0">
                <a:latin typeface="Cambria" panose="02040503050406030204" pitchFamily="18" charset="0"/>
                <a:ea typeface="Cambria" panose="02040503050406030204" pitchFamily="18" charset="0"/>
              </a:rPr>
              <a:t> Stakeholder Notifications Implement systems for notifying stakeholders of any issues or updates related to product status. Reporting Tools Generate reports on traceability metrics, compliance, and performance.</a:t>
            </a:r>
          </a:p>
          <a:p>
            <a:pPr marL="342900" indent="-342900">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Continuous Improvement:</a:t>
            </a:r>
            <a:r>
              <a:rPr lang="en-US" sz="2000" dirty="0">
                <a:latin typeface="Cambria" panose="02040503050406030204" pitchFamily="18" charset="0"/>
                <a:ea typeface="Cambria" panose="02040503050406030204" pitchFamily="18" charset="0"/>
              </a:rPr>
              <a:t> Feedback Mechanisms Gather feedback from stakeholders to identify areas for improvement. Adaptation Regularly update processes and technologies based on performance analysis and stakeholder input.</a:t>
            </a:r>
          </a:p>
          <a:p>
            <a:pPr marL="342900" indent="-342900">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Regulatory Compliance:</a:t>
            </a:r>
            <a:r>
              <a:rPr lang="en-US" sz="2000" dirty="0">
                <a:latin typeface="Cambria" panose="02040503050406030204" pitchFamily="18" charset="0"/>
                <a:ea typeface="Cambria" panose="02040503050406030204" pitchFamily="18" charset="0"/>
              </a:rPr>
              <a:t> Documentation Maintain detailed records to ensure compliance with industry regulations and standards. Audit Trails Create audit trails that facilitate regulatory audits and inspections.</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1001648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A156-B1FC-CA07-89DA-0BCF63C14900}"/>
              </a:ext>
            </a:extLst>
          </p:cNvPr>
          <p:cNvSpPr>
            <a:spLocks noGrp="1"/>
          </p:cNvSpPr>
          <p:nvPr>
            <p:ph type="title"/>
          </p:nvPr>
        </p:nvSpPr>
        <p:spPr/>
        <p:txBody>
          <a:bodyPr/>
          <a:lstStyle/>
          <a:p>
            <a:r>
              <a:rPr lang="en-US" dirty="0"/>
              <a:t>Architecture</a:t>
            </a:r>
            <a:endParaRPr lang="en-IN" dirty="0"/>
          </a:p>
        </p:txBody>
      </p:sp>
      <p:pic>
        <p:nvPicPr>
          <p:cNvPr id="5" name="Content Placeholder 4">
            <a:extLst>
              <a:ext uri="{FF2B5EF4-FFF2-40B4-BE49-F238E27FC236}">
                <a16:creationId xmlns:a16="http://schemas.microsoft.com/office/drawing/2014/main" id="{9C727137-4045-2319-54BF-FE67101F1934}"/>
              </a:ext>
            </a:extLst>
          </p:cNvPr>
          <p:cNvPicPr>
            <a:picLocks noGrp="1" noChangeAspect="1"/>
          </p:cNvPicPr>
          <p:nvPr>
            <p:ph idx="1"/>
          </p:nvPr>
        </p:nvPicPr>
        <p:blipFill>
          <a:blip r:embed="rId2"/>
          <a:stretch>
            <a:fillRect/>
          </a:stretch>
        </p:blipFill>
        <p:spPr>
          <a:xfrm>
            <a:off x="3528060" y="1031240"/>
            <a:ext cx="4953000" cy="4953000"/>
          </a:xfrm>
          <a:prstGeom prst="rect">
            <a:avLst/>
          </a:prstGeom>
        </p:spPr>
      </p:pic>
    </p:spTree>
    <p:extLst>
      <p:ext uri="{BB962C8B-B14F-4D97-AF65-F5344CB8AC3E}">
        <p14:creationId xmlns:p14="http://schemas.microsoft.com/office/powerpoint/2010/main" val="593898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B97FD-7A7C-F5A7-82F8-E665F49E37A5}"/>
              </a:ext>
            </a:extLst>
          </p:cNvPr>
          <p:cNvSpPr>
            <a:spLocks noGrp="1"/>
          </p:cNvSpPr>
          <p:nvPr>
            <p:ph type="title"/>
          </p:nvPr>
        </p:nvSpPr>
        <p:spPr/>
        <p:txBody>
          <a:bodyPr/>
          <a:lstStyle/>
          <a:p>
            <a:r>
              <a:rPr lang="en-US" dirty="0"/>
              <a:t>software components</a:t>
            </a:r>
            <a:endParaRPr lang="en-IN" dirty="0"/>
          </a:p>
        </p:txBody>
      </p:sp>
      <p:sp>
        <p:nvSpPr>
          <p:cNvPr id="3" name="Content Placeholder 2">
            <a:extLst>
              <a:ext uri="{FF2B5EF4-FFF2-40B4-BE49-F238E27FC236}">
                <a16:creationId xmlns:a16="http://schemas.microsoft.com/office/drawing/2014/main" id="{15C84BCC-0DB1-FDE0-3402-D7F5BF535CDB}"/>
              </a:ext>
            </a:extLst>
          </p:cNvPr>
          <p:cNvSpPr>
            <a:spLocks noGrp="1"/>
          </p:cNvSpPr>
          <p:nvPr>
            <p:ph idx="1"/>
          </p:nvPr>
        </p:nvSpPr>
        <p:spPr/>
        <p:txBody>
          <a:bodyPr/>
          <a:lstStyle/>
          <a:p>
            <a:pPr>
              <a:buFont typeface="Wingdings" panose="05000000000000000000" pitchFamily="2" charset="2"/>
              <a:buChar char="Ø"/>
            </a:pPr>
            <a:r>
              <a:rPr lang="en-IN" sz="2400" dirty="0">
                <a:latin typeface="Cambria" panose="02040503050406030204" pitchFamily="18" charset="0"/>
                <a:ea typeface="Cambria" panose="02040503050406030204" pitchFamily="18" charset="0"/>
              </a:rPr>
              <a:t>Google Cloud</a:t>
            </a:r>
          </a:p>
          <a:p>
            <a:pPr>
              <a:buFont typeface="Wingdings" panose="05000000000000000000" pitchFamily="2" charset="2"/>
              <a:buChar char="Ø"/>
            </a:pPr>
            <a:r>
              <a:rPr lang="en-IN" sz="2400" dirty="0">
                <a:latin typeface="Cambria" panose="02040503050406030204" pitchFamily="18" charset="0"/>
                <a:ea typeface="Cambria" panose="02040503050406030204" pitchFamily="18" charset="0"/>
              </a:rPr>
              <a:t>Power BI</a:t>
            </a:r>
            <a:endParaRPr lang="en-IN" sz="2400"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400" dirty="0">
                <a:latin typeface="Cambria" panose="02040503050406030204" pitchFamily="18" charset="0"/>
                <a:ea typeface="Cambria" panose="02040503050406030204" pitchFamily="18" charset="0"/>
              </a:rPr>
              <a:t>Oracle</a:t>
            </a:r>
            <a:endParaRPr lang="en-IN"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400" dirty="0">
                <a:latin typeface="Cambria" panose="02040503050406030204" pitchFamily="18" charset="0"/>
                <a:ea typeface="Cambria" panose="02040503050406030204" pitchFamily="18" charset="0"/>
              </a:rPr>
              <a:t>Blockchain Platforms</a:t>
            </a:r>
            <a:endParaRPr lang="en-IN" sz="2400"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400" dirty="0">
                <a:latin typeface="Cambria" panose="02040503050406030204" pitchFamily="18" charset="0"/>
                <a:ea typeface="Cambria" panose="02040503050406030204" pitchFamily="18" charset="0"/>
              </a:rPr>
              <a:t>Cloud Services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Product Lifecycle Management (PLM) Software</a:t>
            </a:r>
            <a:endParaRPr lang="en-IN" sz="2400" dirty="0">
              <a:latin typeface="Cambria" panose="02040503050406030204" pitchFamily="18" charset="0"/>
              <a:ea typeface="Cambria" panose="02040503050406030204" pitchFamily="18" charset="0"/>
            </a:endParaRPr>
          </a:p>
          <a:p>
            <a:endParaRPr lang="en-IN" dirty="0"/>
          </a:p>
        </p:txBody>
      </p:sp>
    </p:spTree>
    <p:extLst>
      <p:ext uri="{BB962C8B-B14F-4D97-AF65-F5344CB8AC3E}">
        <p14:creationId xmlns:p14="http://schemas.microsoft.com/office/powerpoint/2010/main" val="82555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Timeline of Project</a:t>
            </a:r>
          </a:p>
        </p:txBody>
      </p:sp>
      <p:pic>
        <p:nvPicPr>
          <p:cNvPr id="5" name="Content Placeholder 4">
            <a:extLst>
              <a:ext uri="{FF2B5EF4-FFF2-40B4-BE49-F238E27FC236}">
                <a16:creationId xmlns:a16="http://schemas.microsoft.com/office/drawing/2014/main" id="{270CBE1C-82AD-E770-882E-EDB2007CB3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34160" y="1021079"/>
            <a:ext cx="8442960" cy="5063829"/>
          </a:xfrm>
        </p:spPr>
      </p:pic>
    </p:spTree>
    <p:extLst>
      <p:ext uri="{BB962C8B-B14F-4D97-AF65-F5344CB8AC3E}">
        <p14:creationId xmlns:p14="http://schemas.microsoft.com/office/powerpoint/2010/main" val="3677332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Expected Outcomes</a:t>
            </a: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Ø"/>
            </a:pPr>
            <a:r>
              <a:rPr lang="en-US" sz="2600" dirty="0">
                <a:latin typeface="Cambria" panose="02040503050406030204" pitchFamily="18" charset="0"/>
                <a:ea typeface="Cambria" panose="02040503050406030204" pitchFamily="18" charset="0"/>
              </a:rPr>
              <a:t>Enhanced Product Quality and Safety</a:t>
            </a:r>
          </a:p>
          <a:p>
            <a:pPr>
              <a:buFont typeface="Wingdings" panose="05000000000000000000" pitchFamily="2" charset="2"/>
              <a:buChar char="Ø"/>
            </a:pPr>
            <a:r>
              <a:rPr lang="en-US" sz="2600" dirty="0">
                <a:latin typeface="Cambria" panose="02040503050406030204" pitchFamily="18" charset="0"/>
                <a:ea typeface="Cambria" panose="02040503050406030204" pitchFamily="18" charset="0"/>
              </a:rPr>
              <a:t>Enhanced Customer Trust and Satisfaction</a:t>
            </a:r>
            <a:endParaRPr lang="en-IN" sz="2600"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600" dirty="0">
                <a:latin typeface="Cambria" panose="02040503050406030204" pitchFamily="18" charset="0"/>
                <a:ea typeface="Cambria" panose="02040503050406030204" pitchFamily="18" charset="0"/>
              </a:rPr>
              <a:t>Enhanced Visibility and Transparency</a:t>
            </a:r>
          </a:p>
          <a:p>
            <a:pPr>
              <a:buFont typeface="Wingdings" panose="05000000000000000000" pitchFamily="2" charset="2"/>
              <a:buChar char="Ø"/>
            </a:pPr>
            <a:r>
              <a:rPr lang="en-US" sz="2600" dirty="0">
                <a:latin typeface="Cambria" panose="02040503050406030204" pitchFamily="18" charset="0"/>
                <a:ea typeface="Cambria" panose="02040503050406030204" pitchFamily="18" charset="0"/>
              </a:rPr>
              <a:t>Improved Quality Control and Compliance</a:t>
            </a:r>
            <a:endParaRPr lang="en-IN" sz="2600"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sz="2600" dirty="0">
                <a:latin typeface="Cambria" panose="02040503050406030204" pitchFamily="18" charset="0"/>
                <a:ea typeface="Cambria" panose="02040503050406030204" pitchFamily="18" charset="0"/>
              </a:rPr>
              <a:t>Increased Efficiency and Reduced Costs</a:t>
            </a:r>
            <a:endParaRPr lang="en-IN" sz="2600"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sz="2600" dirty="0">
                <a:latin typeface="Cambria" panose="02040503050406030204" pitchFamily="18" charset="0"/>
                <a:ea typeface="Cambria" panose="02040503050406030204" pitchFamily="18" charset="0"/>
              </a:rPr>
              <a:t>Risk Management and Fraud Prevention</a:t>
            </a:r>
            <a:endParaRPr lang="en-IN" sz="2600"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600" dirty="0">
                <a:latin typeface="Cambria" panose="02040503050406030204" pitchFamily="18" charset="0"/>
                <a:ea typeface="Cambria" panose="02040503050406030204" pitchFamily="18" charset="0"/>
              </a:rPr>
              <a:t>Sustainability and Ethical Sourcing</a:t>
            </a:r>
          </a:p>
          <a:p>
            <a:pPr>
              <a:buFont typeface="Wingdings" panose="05000000000000000000" pitchFamily="2" charset="2"/>
              <a:buChar char="Ø"/>
            </a:pPr>
            <a:r>
              <a:rPr lang="en-IN" sz="2600" dirty="0">
                <a:latin typeface="Cambria" panose="02040503050406030204" pitchFamily="18" charset="0"/>
                <a:ea typeface="Cambria" panose="02040503050406030204" pitchFamily="18" charset="0"/>
              </a:rPr>
              <a:t>Data-Driven Decision Making</a:t>
            </a:r>
          </a:p>
          <a:p>
            <a:pPr>
              <a:buFont typeface="Wingdings" panose="05000000000000000000" pitchFamily="2" charset="2"/>
              <a:buChar char="Ø"/>
            </a:pPr>
            <a:r>
              <a:rPr lang="en-IN" sz="2600" dirty="0">
                <a:latin typeface="Cambria" panose="02040503050406030204" pitchFamily="18" charset="0"/>
                <a:ea typeface="Cambria" panose="02040503050406030204" pitchFamily="18" charset="0"/>
              </a:rPr>
              <a:t>Reduced Environmental Impact</a:t>
            </a:r>
          </a:p>
          <a:p>
            <a:pPr>
              <a:buFont typeface="Wingdings" panose="05000000000000000000" pitchFamily="2" charset="2"/>
              <a:buChar char="Ø"/>
            </a:pPr>
            <a:r>
              <a:rPr lang="en-IN" sz="2600" dirty="0">
                <a:latin typeface="Cambria" panose="02040503050406030204" pitchFamily="18" charset="0"/>
                <a:ea typeface="Cambria" panose="02040503050406030204" pitchFamily="18" charset="0"/>
              </a:rPr>
              <a:t>Market Positioning</a:t>
            </a:r>
          </a:p>
          <a:p>
            <a:pPr>
              <a:buFont typeface="Wingdings" panose="05000000000000000000" pitchFamily="2" charset="2"/>
              <a:buChar char="Ø"/>
            </a:pPr>
            <a:r>
              <a:rPr lang="en-IN" sz="2600" dirty="0">
                <a:latin typeface="Cambria" panose="02040503050406030204" pitchFamily="18" charset="0"/>
                <a:ea typeface="Cambria" panose="02040503050406030204" pitchFamily="18" charset="0"/>
              </a:rPr>
              <a:t>Adoption of New Technologies</a:t>
            </a:r>
            <a:endParaRPr lang="en-GB" sz="2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23928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p>
        </p:txBody>
      </p:sp>
      <p:sp>
        <p:nvSpPr>
          <p:cNvPr id="3" name="Content Placeholder 2"/>
          <p:cNvSpPr>
            <a:spLocks noGrp="1"/>
          </p:cNvSpPr>
          <p:nvPr>
            <p:ph idx="1"/>
          </p:nvPr>
        </p:nvSpPr>
        <p:spPr/>
        <p:txBody>
          <a:bodyPr/>
          <a:lstStyle/>
          <a:p>
            <a:pPr marL="0" indent="0">
              <a:buNone/>
            </a:pPr>
            <a:r>
              <a:rPr lang="en-US" dirty="0">
                <a:latin typeface="Cambria" panose="02040503050406030204" pitchFamily="18" charset="0"/>
                <a:ea typeface="Cambria" panose="02040503050406030204" pitchFamily="18" charset="0"/>
              </a:rPr>
              <a:t>In conclusion, implementing a trace and trace supply chain system is a transformative approach that enhances visibility, transparency, and control across the entire supply chain network. By adopting these practices, businesses can:</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 Ensure Product Quality and Safety</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 Boost Efficiency and Reduce Costs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 </a:t>
            </a:r>
            <a:r>
              <a:rPr lang="en-IN" dirty="0">
                <a:latin typeface="Cambria" panose="02040503050406030204" pitchFamily="18" charset="0"/>
                <a:ea typeface="Cambria" panose="02040503050406030204" pitchFamily="18" charset="0"/>
              </a:rPr>
              <a:t>Build Trust and Reputation</a:t>
            </a:r>
          </a:p>
          <a:p>
            <a:pPr>
              <a:buFont typeface="Wingdings" panose="05000000000000000000" pitchFamily="2" charset="2"/>
              <a:buChar char="Ø"/>
            </a:pPr>
            <a:r>
              <a:rPr lang="en-IN" dirty="0">
                <a:latin typeface="Cambria" panose="02040503050406030204" pitchFamily="18" charset="0"/>
                <a:ea typeface="Cambria" panose="02040503050406030204" pitchFamily="18" charset="0"/>
              </a:rPr>
              <a:t> Promote Sustainability</a:t>
            </a:r>
          </a:p>
          <a:p>
            <a:pPr>
              <a:buFont typeface="Wingdings" panose="05000000000000000000" pitchFamily="2" charset="2"/>
              <a:buChar char="Ø"/>
            </a:pPr>
            <a:r>
              <a:rPr lang="en-IN" dirty="0">
                <a:latin typeface="Cambria" panose="02040503050406030204" pitchFamily="18" charset="0"/>
                <a:ea typeface="Cambria" panose="02040503050406030204" pitchFamily="18" charset="0"/>
              </a:rPr>
              <a:t> Leverage Data-Driven Insights</a:t>
            </a: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38571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6604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p>
          <a:p>
            <a:pPr marL="342900" indent="-190500" algn="just">
              <a:spcBef>
                <a:spcPts val="0"/>
              </a:spcBef>
              <a:buSzPct val="100000"/>
              <a:buNone/>
            </a:pPr>
            <a:r>
              <a:rPr lang="en-IN" sz="2400" dirty="0">
                <a:solidFill>
                  <a:schemeClr val="accent1"/>
                </a:solidFill>
                <a:hlinkClick r:id="rId3"/>
              </a:rPr>
              <a:t>https://github.com/Bramha2982/trackandtracesupplychain</a:t>
            </a:r>
            <a:endParaRPr lang="en-IN" sz="2400" dirty="0">
              <a:solidFill>
                <a:schemeClr val="accent1"/>
              </a:solidFill>
            </a:endParaRP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p:txBody>
          <a:bodyPr/>
          <a:lstStyle/>
          <a:p>
            <a:pPr>
              <a:buFont typeface="Wingdings" panose="05000000000000000000" pitchFamily="2" charset="2"/>
              <a:buChar char="Ø"/>
            </a:pPr>
            <a:endParaRPr lang="en-US" dirty="0">
              <a:solidFill>
                <a:schemeClr val="tx2">
                  <a:lumMod val="60000"/>
                  <a:lumOff val="40000"/>
                </a:schemeClr>
              </a:solidFill>
              <a:latin typeface="Cambria" panose="02040503050406030204" pitchFamily="18" charset="0"/>
              <a:ea typeface="Cambria" panose="02040503050406030204" pitchFamily="18" charset="0"/>
            </a:endParaRPr>
          </a:p>
          <a:p>
            <a:pPr marL="0" indent="0">
              <a:buNone/>
            </a:pPr>
            <a:endParaRPr lang="en-US" dirty="0">
              <a:solidFill>
                <a:schemeClr val="accent1"/>
              </a:solidFill>
              <a:latin typeface="Cambria" panose="02040503050406030204" pitchFamily="18" charset="0"/>
              <a:ea typeface="Cambria" panose="02040503050406030204" pitchFamily="18" charset="0"/>
            </a:endParaRPr>
          </a:p>
          <a:p>
            <a:pPr>
              <a:buFont typeface="Wingdings" panose="05000000000000000000" pitchFamily="2" charset="2"/>
              <a:buChar char="Ø"/>
            </a:pPr>
            <a:endParaRPr lang="en-GB" dirty="0"/>
          </a:p>
        </p:txBody>
      </p:sp>
      <p:sp>
        <p:nvSpPr>
          <p:cNvPr id="5" name="TextBox 4">
            <a:extLst>
              <a:ext uri="{FF2B5EF4-FFF2-40B4-BE49-F238E27FC236}">
                <a16:creationId xmlns:a16="http://schemas.microsoft.com/office/drawing/2014/main" id="{86F3DCF8-92D5-0F8C-3A46-D9249CDC1962}"/>
              </a:ext>
            </a:extLst>
          </p:cNvPr>
          <p:cNvSpPr txBox="1"/>
          <p:nvPr/>
        </p:nvSpPr>
        <p:spPr>
          <a:xfrm>
            <a:off x="203200" y="1026160"/>
            <a:ext cx="11988800" cy="6432530"/>
          </a:xfrm>
          <a:prstGeom prst="rect">
            <a:avLst/>
          </a:prstGeom>
          <a:noFill/>
        </p:spPr>
        <p:txBody>
          <a:bodyPr wrap="square">
            <a:spAutoFit/>
          </a:bodyPr>
          <a:lstStyle/>
          <a:p>
            <a:pPr marL="342900" indent="-342900">
              <a:buFont typeface="Wingdings" panose="05000000000000000000" pitchFamily="2" charset="2"/>
              <a:buChar char="Ø"/>
            </a:pPr>
            <a:r>
              <a:rPr lang="en-US" dirty="0">
                <a:latin typeface="Cambria" panose="02040503050406030204" pitchFamily="18" charset="0"/>
                <a:ea typeface="Cambria" panose="02040503050406030204" pitchFamily="18" charset="0"/>
              </a:rPr>
              <a:t>Blockchain Technology for Global Supply Chain Management (2024)</a:t>
            </a:r>
          </a:p>
          <a:p>
            <a:r>
              <a:rPr lang="en-US" dirty="0">
                <a:latin typeface="Cambria" panose="02040503050406030204" pitchFamily="18" charset="0"/>
                <a:ea typeface="Cambria" panose="02040503050406030204" pitchFamily="18" charset="0"/>
              </a:rPr>
              <a:t>      Authors: Julie K. Dunston , Garth V. Crosby</a:t>
            </a:r>
          </a:p>
          <a:p>
            <a:r>
              <a:rPr lang="en-US" dirty="0">
                <a:latin typeface="Cambria" panose="02040503050406030204" pitchFamily="18" charset="0"/>
                <a:ea typeface="Cambria" panose="02040503050406030204" pitchFamily="18" charset="0"/>
              </a:rPr>
              <a:t>      Link: </a:t>
            </a:r>
            <a:r>
              <a:rPr lang="en-US" dirty="0">
                <a:solidFill>
                  <a:schemeClr val="tx2"/>
                </a:solidFill>
                <a:latin typeface="Cambria" panose="02040503050406030204" pitchFamily="18" charset="0"/>
                <a:ea typeface="Cambria" panose="02040503050406030204" pitchFamily="18" charset="0"/>
                <a:hlinkClick r:id="rId2"/>
              </a:rPr>
              <a:t>https://ieeexplore.ieee.org/abstract/document/10529266</a:t>
            </a:r>
            <a:endParaRPr lang="en-US" dirty="0">
              <a:solidFill>
                <a:schemeClr val="tx2"/>
              </a:solidFill>
              <a:latin typeface="Cambria" panose="02040503050406030204" pitchFamily="18" charset="0"/>
              <a:ea typeface="Cambria" panose="02040503050406030204" pitchFamily="18" charset="0"/>
            </a:endParaRPr>
          </a:p>
          <a:p>
            <a:pPr marL="342900" indent="-342900">
              <a:buFont typeface="Wingdings" panose="05000000000000000000" pitchFamily="2" charset="2"/>
              <a:buChar char="Ø"/>
            </a:pPr>
            <a:r>
              <a:rPr lang="en-US" dirty="0">
                <a:latin typeface="Cambria" panose="02040503050406030204" pitchFamily="18" charset="0"/>
                <a:ea typeface="Cambria" panose="02040503050406030204" pitchFamily="18" charset="0"/>
              </a:rPr>
              <a:t>Digitalization of the healthcare supply chain: a roadmap to generate benefits and effectively support healthcare delivery  (2021)</a:t>
            </a:r>
          </a:p>
          <a:p>
            <a:r>
              <a:rPr lang="en-US" dirty="0">
                <a:latin typeface="Cambria" panose="02040503050406030204" pitchFamily="18" charset="0"/>
                <a:ea typeface="Cambria" panose="02040503050406030204" pitchFamily="18" charset="0"/>
              </a:rPr>
              <a:t>      Authors: M. Beaulieu, O. </a:t>
            </a:r>
            <a:r>
              <a:rPr lang="en-US" dirty="0" err="1">
                <a:latin typeface="Cambria" panose="02040503050406030204" pitchFamily="18" charset="0"/>
                <a:ea typeface="Cambria" panose="02040503050406030204" pitchFamily="18" charset="0"/>
              </a:rPr>
              <a:t>Bentahar</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      Link: </a:t>
            </a:r>
            <a:r>
              <a:rPr lang="en-US" dirty="0">
                <a:solidFill>
                  <a:schemeClr val="tx2"/>
                </a:solidFill>
                <a:latin typeface="Cambria" panose="02040503050406030204" pitchFamily="18" charset="0"/>
                <a:ea typeface="Cambria" panose="02040503050406030204" pitchFamily="18" charset="0"/>
                <a:hlinkClick r:id="rId3"/>
              </a:rPr>
              <a:t>https://www.sciencedirect.com/science/article/pii/S0040162521001499?via%3Dihub</a:t>
            </a:r>
            <a:endParaRPr lang="en-US" dirty="0">
              <a:solidFill>
                <a:schemeClr val="tx2"/>
              </a:solidFill>
              <a:latin typeface="Cambria" panose="02040503050406030204" pitchFamily="18" charset="0"/>
              <a:ea typeface="Cambria" panose="02040503050406030204" pitchFamily="18" charset="0"/>
            </a:endParaRPr>
          </a:p>
          <a:p>
            <a:pPr marL="342900" indent="-342900">
              <a:buFont typeface="Wingdings" panose="05000000000000000000" pitchFamily="2" charset="2"/>
              <a:buChar char="Ø"/>
            </a:pPr>
            <a:r>
              <a:rPr lang="en-US" dirty="0">
                <a:latin typeface="Cambria" panose="02040503050406030204" pitchFamily="18" charset="0"/>
                <a:ea typeface="Cambria" panose="02040503050406030204" pitchFamily="18" charset="0"/>
              </a:rPr>
              <a:t>Apple </a:t>
            </a:r>
            <a:r>
              <a:rPr lang="en-US" dirty="0" err="1">
                <a:latin typeface="Cambria" panose="02040503050406030204" pitchFamily="18" charset="0"/>
                <a:ea typeface="Cambria" panose="02040503050406030204" pitchFamily="18" charset="0"/>
              </a:rPr>
              <a:t>AirTag</a:t>
            </a:r>
            <a:r>
              <a:rPr lang="en-US" dirty="0">
                <a:latin typeface="Cambria" panose="02040503050406030204" pitchFamily="18" charset="0"/>
                <a:ea typeface="Cambria" panose="02040503050406030204" pitchFamily="18" charset="0"/>
              </a:rPr>
              <a:t>: a brilliant car tracker, as this road test proves  (2021)</a:t>
            </a:r>
          </a:p>
          <a:p>
            <a:r>
              <a:rPr lang="en-US" dirty="0">
                <a:latin typeface="Cambria" panose="02040503050406030204" pitchFamily="18" charset="0"/>
                <a:ea typeface="Cambria" panose="02040503050406030204" pitchFamily="18" charset="0"/>
              </a:rPr>
              <a:t>      Authors: Barry Collins</a:t>
            </a:r>
          </a:p>
          <a:p>
            <a:r>
              <a:rPr lang="en-US" dirty="0">
                <a:latin typeface="Cambria" panose="02040503050406030204" pitchFamily="18" charset="0"/>
                <a:ea typeface="Cambria" panose="02040503050406030204" pitchFamily="18" charset="0"/>
              </a:rPr>
              <a:t>      Link: </a:t>
            </a:r>
            <a:r>
              <a:rPr lang="en-US" dirty="0">
                <a:solidFill>
                  <a:schemeClr val="tx2"/>
                </a:solidFill>
                <a:latin typeface="Cambria" panose="02040503050406030204" pitchFamily="18" charset="0"/>
                <a:ea typeface="Cambria" panose="02040503050406030204" pitchFamily="18" charset="0"/>
                <a:hlinkClick r:id="rId4"/>
              </a:rPr>
              <a:t>https://www.forbes.com/sites/barrycollins/2021/05/15/apple-airtag-a-brilliant-car-tracker-as-</a:t>
            </a:r>
            <a:endParaRPr lang="en-US" dirty="0">
              <a:solidFill>
                <a:schemeClr val="tx2"/>
              </a:solidFill>
              <a:latin typeface="Cambria" panose="02040503050406030204" pitchFamily="18" charset="0"/>
              <a:ea typeface="Cambria" panose="02040503050406030204" pitchFamily="18" charset="0"/>
            </a:endParaRPr>
          </a:p>
          <a:p>
            <a:pPr marL="342900" indent="-342900">
              <a:buFont typeface="Wingdings" panose="05000000000000000000" pitchFamily="2" charset="2"/>
              <a:buChar char="Ø"/>
            </a:pPr>
            <a:r>
              <a:rPr lang="en-US" dirty="0">
                <a:latin typeface="Cambria" panose="02040503050406030204" pitchFamily="18" charset="0"/>
                <a:ea typeface="Cambria" panose="02040503050406030204" pitchFamily="18" charset="0"/>
              </a:rPr>
              <a:t>Impact of artificial intelligence-driven big data analytics culture on agility and resilience in humanitarian supply chain  (2022)</a:t>
            </a:r>
          </a:p>
          <a:p>
            <a:r>
              <a:rPr lang="en-US" dirty="0">
                <a:latin typeface="Cambria" panose="02040503050406030204" pitchFamily="18" charset="0"/>
                <a:ea typeface="Cambria" panose="02040503050406030204" pitchFamily="18" charset="0"/>
              </a:rPr>
              <a:t>      Authors: R. Dubey, D.J. </a:t>
            </a:r>
            <a:r>
              <a:rPr lang="en-US" dirty="0" err="1">
                <a:latin typeface="Cambria" panose="02040503050406030204" pitchFamily="18" charset="0"/>
                <a:ea typeface="Cambria" panose="02040503050406030204" pitchFamily="18" charset="0"/>
              </a:rPr>
              <a:t>Bryde</a:t>
            </a:r>
            <a:r>
              <a:rPr lang="en-US" dirty="0">
                <a:latin typeface="Cambria" panose="02040503050406030204" pitchFamily="18" charset="0"/>
                <a:ea typeface="Cambria" panose="02040503050406030204" pitchFamily="18" charset="0"/>
              </a:rPr>
              <a:t>, Y.K. Dwivedi</a:t>
            </a:r>
          </a:p>
          <a:p>
            <a:r>
              <a:rPr lang="en-US" dirty="0">
                <a:latin typeface="Cambria" panose="02040503050406030204" pitchFamily="18" charset="0"/>
                <a:ea typeface="Cambria" panose="02040503050406030204" pitchFamily="18" charset="0"/>
              </a:rPr>
              <a:t>     Link: </a:t>
            </a:r>
            <a:r>
              <a:rPr lang="en-US" dirty="0">
                <a:solidFill>
                  <a:schemeClr val="tx2"/>
                </a:solidFill>
                <a:latin typeface="Cambria" panose="02040503050406030204" pitchFamily="18" charset="0"/>
                <a:ea typeface="Cambria" panose="02040503050406030204" pitchFamily="18" charset="0"/>
                <a:hlinkClick r:id="rId5"/>
              </a:rPr>
              <a:t>https://www.sciencedirect.com/science/article/pii/S0925527322002018</a:t>
            </a:r>
            <a:endParaRPr lang="en-US" dirty="0">
              <a:solidFill>
                <a:schemeClr val="tx2"/>
              </a:solidFill>
              <a:latin typeface="Cambria" panose="02040503050406030204" pitchFamily="18" charset="0"/>
              <a:ea typeface="Cambria" panose="02040503050406030204" pitchFamily="18" charset="0"/>
            </a:endParaRPr>
          </a:p>
          <a:p>
            <a:pPr marL="342900" indent="-342900">
              <a:buFont typeface="Wingdings" panose="05000000000000000000" pitchFamily="2" charset="2"/>
              <a:buChar char="Ø"/>
            </a:pPr>
            <a:r>
              <a:rPr lang="en-US" sz="2000" dirty="0">
                <a:latin typeface="Cambria" panose="02040503050406030204" pitchFamily="18" charset="0"/>
                <a:ea typeface="Cambria" panose="02040503050406030204" pitchFamily="18" charset="0"/>
              </a:rPr>
              <a:t>The performance effects of big data analytics and supply chain ambidexterity: the moderating effect of environmental dynamism   (2020)</a:t>
            </a:r>
          </a:p>
          <a:p>
            <a:r>
              <a:rPr lang="en-US" sz="2000" dirty="0">
                <a:latin typeface="Cambria" panose="02040503050406030204" pitchFamily="18" charset="0"/>
                <a:ea typeface="Cambria" panose="02040503050406030204" pitchFamily="18" charset="0"/>
              </a:rPr>
              <a:t>      Authors: S. </a:t>
            </a:r>
            <a:r>
              <a:rPr lang="en-US" sz="2000" dirty="0" err="1">
                <a:latin typeface="Cambria" panose="02040503050406030204" pitchFamily="18" charset="0"/>
                <a:ea typeface="Cambria" panose="02040503050406030204" pitchFamily="18" charset="0"/>
              </a:rPr>
              <a:t>Fosso</a:t>
            </a:r>
            <a:r>
              <a:rPr lang="en-US" sz="2000" dirty="0">
                <a:latin typeface="Cambria" panose="02040503050406030204" pitchFamily="18" charset="0"/>
                <a:ea typeface="Cambria" panose="02040503050406030204" pitchFamily="18" charset="0"/>
              </a:rPr>
              <a:t>  </a:t>
            </a:r>
            <a:r>
              <a:rPr lang="en-US" sz="2000" dirty="0" err="1">
                <a:latin typeface="Cambria" panose="02040503050406030204" pitchFamily="18" charset="0"/>
                <a:ea typeface="Cambria" panose="02040503050406030204" pitchFamily="18" charset="0"/>
              </a:rPr>
              <a:t>Wamba,R</a:t>
            </a:r>
            <a:r>
              <a:rPr lang="en-US" sz="2000" dirty="0">
                <a:latin typeface="Cambria" panose="02040503050406030204" pitchFamily="18" charset="0"/>
                <a:ea typeface="Cambria" panose="02040503050406030204" pitchFamily="18" charset="0"/>
              </a:rPr>
              <a:t>. Dubey</a:t>
            </a:r>
          </a:p>
          <a:p>
            <a:r>
              <a:rPr lang="en-US" sz="2000" dirty="0">
                <a:latin typeface="Cambria" panose="02040503050406030204" pitchFamily="18" charset="0"/>
                <a:ea typeface="Cambria" panose="02040503050406030204" pitchFamily="18" charset="0"/>
              </a:rPr>
              <a:t>      Link: </a:t>
            </a:r>
            <a:r>
              <a:rPr lang="en-US" sz="2000" dirty="0">
                <a:solidFill>
                  <a:schemeClr val="tx2"/>
                </a:solidFill>
                <a:latin typeface="Cambria" panose="02040503050406030204" pitchFamily="18" charset="0"/>
                <a:ea typeface="Cambria" panose="02040503050406030204" pitchFamily="18" charset="0"/>
                <a:hlinkClick r:id="rId6"/>
              </a:rPr>
              <a:t>https://www.sciencedirect.com/science/article/abs/pii/S0925527319303184</a:t>
            </a:r>
            <a:endParaRPr lang="en-US" sz="2000" dirty="0">
              <a:solidFill>
                <a:schemeClr val="tx2"/>
              </a:solidFill>
              <a:latin typeface="Cambria" panose="02040503050406030204" pitchFamily="18" charset="0"/>
              <a:ea typeface="Cambria" panose="02040503050406030204" pitchFamily="18" charset="0"/>
            </a:endParaRPr>
          </a:p>
          <a:p>
            <a:endParaRPr lang="en-US" sz="2000" dirty="0">
              <a:solidFill>
                <a:schemeClr val="tx2"/>
              </a:solidFill>
              <a:latin typeface="Cambria" panose="02040503050406030204" pitchFamily="18" charset="0"/>
              <a:ea typeface="Cambria" panose="02040503050406030204" pitchFamily="18" charset="0"/>
            </a:endParaRPr>
          </a:p>
          <a:p>
            <a:endParaRPr lang="en-US" sz="2000" dirty="0">
              <a:solidFill>
                <a:schemeClr val="tx2"/>
              </a:solidFill>
              <a:latin typeface="Cambria" panose="02040503050406030204" pitchFamily="18" charset="0"/>
              <a:ea typeface="Cambria" panose="02040503050406030204" pitchFamily="18" charset="0"/>
            </a:endParaRPr>
          </a:p>
          <a:p>
            <a:endParaRPr lang="en-US" sz="20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endParaRPr>
          </a:p>
          <a:p>
            <a:endParaRPr lang="en-IN" sz="2000" dirty="0">
              <a:solidFill>
                <a:schemeClr val="tx2"/>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13863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0526EE-21F5-7ECE-D2A7-2E5EC24037E3}"/>
              </a:ext>
            </a:extLst>
          </p:cNvPr>
          <p:cNvSpPr txBox="1"/>
          <p:nvPr/>
        </p:nvSpPr>
        <p:spPr>
          <a:xfrm>
            <a:off x="1016000" y="419854"/>
            <a:ext cx="6096000" cy="523220"/>
          </a:xfrm>
          <a:prstGeom prst="rect">
            <a:avLst/>
          </a:prstGeom>
          <a:noFill/>
        </p:spPr>
        <p:txBody>
          <a:bodyPr wrap="square">
            <a:spAutoFit/>
          </a:bodyPr>
          <a:lstStyle/>
          <a:p>
            <a:r>
              <a:rPr lang="en-GB" sz="2800" b="1" dirty="0">
                <a:solidFill>
                  <a:schemeClr val="tx2">
                    <a:lumMod val="75000"/>
                  </a:schemeClr>
                </a:solidFill>
                <a:latin typeface="Verdana" panose="020B0604030504040204" pitchFamily="34" charset="0"/>
                <a:ea typeface="Verdana" panose="020B0604030504040204" pitchFamily="34" charset="0"/>
              </a:rPr>
              <a:t>References</a:t>
            </a:r>
            <a:endParaRPr lang="en-IN" sz="2800" b="1" dirty="0">
              <a:solidFill>
                <a:schemeClr val="tx2">
                  <a:lumMod val="75000"/>
                </a:schemeClr>
              </a:solidFill>
              <a:latin typeface="Verdana" panose="020B0604030504040204" pitchFamily="34" charset="0"/>
              <a:ea typeface="Verdana" panose="020B0604030504040204" pitchFamily="34" charset="0"/>
            </a:endParaRPr>
          </a:p>
        </p:txBody>
      </p:sp>
      <p:sp>
        <p:nvSpPr>
          <p:cNvPr id="5" name="TextBox 4">
            <a:extLst>
              <a:ext uri="{FF2B5EF4-FFF2-40B4-BE49-F238E27FC236}">
                <a16:creationId xmlns:a16="http://schemas.microsoft.com/office/drawing/2014/main" id="{8D228B4B-E5E8-6C7F-D882-6F19FDEF7660}"/>
              </a:ext>
            </a:extLst>
          </p:cNvPr>
          <p:cNvSpPr txBox="1"/>
          <p:nvPr/>
        </p:nvSpPr>
        <p:spPr>
          <a:xfrm>
            <a:off x="182880" y="943074"/>
            <a:ext cx="11866880" cy="6463308"/>
          </a:xfrm>
          <a:prstGeom prst="rect">
            <a:avLst/>
          </a:prstGeom>
          <a:noFill/>
        </p:spPr>
        <p:txBody>
          <a:bodyPr wrap="square">
            <a:spAutoFit/>
          </a:bodyPr>
          <a:lstStyle/>
          <a:p>
            <a:pPr marL="285750" indent="-285750">
              <a:buFont typeface="Wingdings" panose="05000000000000000000" pitchFamily="2" charset="2"/>
              <a:buChar char="Ø"/>
            </a:pPr>
            <a:r>
              <a:rPr lang="en-IN" dirty="0">
                <a:latin typeface="Cambria" panose="02040503050406030204" pitchFamily="18" charset="0"/>
                <a:ea typeface="Cambria" panose="02040503050406030204" pitchFamily="18" charset="0"/>
              </a:rPr>
              <a:t>Strategies to overcome barriers to innovative digitalisation technologies for supply chain logistics resilience during pandemic  (2022)</a:t>
            </a:r>
          </a:p>
          <a:p>
            <a:r>
              <a:rPr lang="en-IN" dirty="0">
                <a:latin typeface="Cambria" panose="02040503050406030204" pitchFamily="18" charset="0"/>
                <a:ea typeface="Cambria" panose="02040503050406030204" pitchFamily="18" charset="0"/>
              </a:rPr>
              <a:t>     Authors: H. Gupta, A.K. Yadav</a:t>
            </a:r>
          </a:p>
          <a:p>
            <a:r>
              <a:rPr lang="en-IN" dirty="0">
                <a:latin typeface="Cambria" panose="02040503050406030204" pitchFamily="18" charset="0"/>
                <a:ea typeface="Cambria" panose="02040503050406030204" pitchFamily="18" charset="0"/>
              </a:rPr>
              <a:t>     Link: </a:t>
            </a:r>
            <a:r>
              <a:rPr lang="en-IN" dirty="0">
                <a:solidFill>
                  <a:schemeClr val="accent1"/>
                </a:solidFill>
                <a:latin typeface="Cambria" panose="02040503050406030204" pitchFamily="18" charset="0"/>
                <a:ea typeface="Cambria" panose="02040503050406030204" pitchFamily="18" charset="0"/>
                <a:hlinkClick r:id="rId2"/>
              </a:rPr>
              <a:t>https://www.sciencedirect.com/science/article/abs/pii/S0160791X22001117</a:t>
            </a:r>
            <a:endParaRPr lang="en-IN" dirty="0">
              <a:solidFill>
                <a:schemeClr val="accent1"/>
              </a:solidFill>
              <a:latin typeface="Cambria" panose="02040503050406030204" pitchFamily="18" charset="0"/>
              <a:ea typeface="Cambria" panose="02040503050406030204" pitchFamily="18" charset="0"/>
            </a:endParaRPr>
          </a:p>
          <a:p>
            <a:pPr marL="285750" indent="-285750">
              <a:buFont typeface="Wingdings" panose="05000000000000000000" pitchFamily="2" charset="2"/>
              <a:buChar char="Ø"/>
            </a:pPr>
            <a:r>
              <a:rPr lang="en-US" dirty="0">
                <a:latin typeface="Cambria" panose="02040503050406030204" pitchFamily="18" charset="0"/>
                <a:ea typeface="Cambria" panose="02040503050406030204" pitchFamily="18" charset="0"/>
              </a:rPr>
              <a:t>Real-time supply chain—A blockchain architecture for project deliveries   (2020)</a:t>
            </a:r>
          </a:p>
          <a:p>
            <a:r>
              <a:rPr lang="en-US" dirty="0">
                <a:latin typeface="Cambria" panose="02040503050406030204" pitchFamily="18" charset="0"/>
                <a:ea typeface="Cambria" panose="02040503050406030204" pitchFamily="18" charset="0"/>
              </a:rPr>
              <a:t>     Authors: Petri Helo, A.H.M. </a:t>
            </a:r>
            <a:r>
              <a:rPr lang="en-US" dirty="0" err="1">
                <a:latin typeface="Cambria" panose="02040503050406030204" pitchFamily="18" charset="0"/>
                <a:ea typeface="Cambria" panose="02040503050406030204" pitchFamily="18" charset="0"/>
              </a:rPr>
              <a:t>Shamsuzzoha</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     link: </a:t>
            </a:r>
            <a:r>
              <a:rPr lang="en-US" dirty="0">
                <a:solidFill>
                  <a:schemeClr val="accent1"/>
                </a:solidFill>
                <a:latin typeface="Cambria" panose="02040503050406030204" pitchFamily="18" charset="0"/>
                <a:ea typeface="Cambria" panose="02040503050406030204" pitchFamily="18" charset="0"/>
                <a:hlinkClick r:id="rId3"/>
              </a:rPr>
              <a:t>https://www.sciencedirect.com/science/article/abs/pii/S0736584518306665</a:t>
            </a:r>
            <a:endParaRPr lang="en-US" dirty="0">
              <a:solidFill>
                <a:schemeClr val="accent1"/>
              </a:solidFill>
              <a:latin typeface="Cambria" panose="02040503050406030204" pitchFamily="18" charset="0"/>
              <a:ea typeface="Cambria" panose="02040503050406030204" pitchFamily="18" charset="0"/>
            </a:endParaRPr>
          </a:p>
          <a:p>
            <a:pPr marL="285750" indent="-285750">
              <a:buFont typeface="Wingdings" panose="05000000000000000000" pitchFamily="2" charset="2"/>
              <a:buChar char="Ø"/>
            </a:pPr>
            <a:r>
              <a:rPr lang="en-US" dirty="0">
                <a:latin typeface="Cambria" panose="02040503050406030204" pitchFamily="18" charset="0"/>
                <a:ea typeface="Cambria" panose="02040503050406030204" pitchFamily="18" charset="0"/>
              </a:rPr>
              <a:t>Impact of COVID-19 food supply chain: Comparing the use of IoT in three South African supermarkets  (2022)</a:t>
            </a:r>
          </a:p>
          <a:p>
            <a:r>
              <a:rPr lang="en-US" dirty="0">
                <a:latin typeface="Cambria" panose="02040503050406030204" pitchFamily="18" charset="0"/>
                <a:ea typeface="Cambria" panose="02040503050406030204" pitchFamily="18" charset="0"/>
              </a:rPr>
              <a:t>    Authors: Linda </a:t>
            </a:r>
            <a:r>
              <a:rPr lang="en-US" dirty="0" err="1">
                <a:latin typeface="Cambria" panose="02040503050406030204" pitchFamily="18" charset="0"/>
                <a:ea typeface="Cambria" panose="02040503050406030204" pitchFamily="18" charset="0"/>
              </a:rPr>
              <a:t>Njomane</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Arnesh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Telukdarie</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    link: </a:t>
            </a:r>
            <a:r>
              <a:rPr lang="en-US" dirty="0">
                <a:solidFill>
                  <a:schemeClr val="accent1"/>
                </a:solidFill>
                <a:latin typeface="Cambria" panose="02040503050406030204" pitchFamily="18" charset="0"/>
                <a:ea typeface="Cambria" panose="02040503050406030204" pitchFamily="18" charset="0"/>
                <a:hlinkClick r:id="rId4"/>
              </a:rPr>
              <a:t>https://www.sciencedirect.com/science/article/pii/S0160791X22001920</a:t>
            </a:r>
            <a:endParaRPr lang="en-US" dirty="0">
              <a:solidFill>
                <a:schemeClr val="accent1"/>
              </a:solidFill>
              <a:latin typeface="Cambria" panose="02040503050406030204" pitchFamily="18" charset="0"/>
              <a:ea typeface="Cambria" panose="02040503050406030204" pitchFamily="18" charset="0"/>
            </a:endParaRPr>
          </a:p>
          <a:p>
            <a:pPr marL="285750" indent="-285750">
              <a:buFont typeface="Wingdings" panose="05000000000000000000" pitchFamily="2" charset="2"/>
              <a:buChar char="Ø"/>
            </a:pPr>
            <a:r>
              <a:rPr lang="en-US" dirty="0">
                <a:latin typeface="Cambria" panose="02040503050406030204" pitchFamily="18" charset="0"/>
                <a:ea typeface="Cambria" panose="02040503050406030204" pitchFamily="18" charset="0"/>
              </a:rPr>
              <a:t>Assessing sustainability performance of global supply chains: An input-output modeling approach  (2020)</a:t>
            </a:r>
          </a:p>
          <a:p>
            <a:r>
              <a:rPr lang="en-US" dirty="0">
                <a:latin typeface="Cambria" panose="02040503050406030204" pitchFamily="18" charset="0"/>
                <a:ea typeface="Cambria" panose="02040503050406030204" pitchFamily="18" charset="0"/>
              </a:rPr>
              <a:t>     Authors: H. Wang, Chen Pan</a:t>
            </a:r>
          </a:p>
          <a:p>
            <a:r>
              <a:rPr lang="en-US" dirty="0">
                <a:latin typeface="Cambria" panose="02040503050406030204" pitchFamily="18" charset="0"/>
                <a:ea typeface="Cambria" panose="02040503050406030204" pitchFamily="18" charset="0"/>
              </a:rPr>
              <a:t>    link: </a:t>
            </a:r>
            <a:r>
              <a:rPr lang="en-US" dirty="0">
                <a:solidFill>
                  <a:schemeClr val="accent1"/>
                </a:solidFill>
                <a:latin typeface="Cambria" panose="02040503050406030204" pitchFamily="18" charset="0"/>
                <a:ea typeface="Cambria" panose="02040503050406030204" pitchFamily="18" charset="0"/>
                <a:hlinkClick r:id="rId5"/>
              </a:rPr>
              <a:t>https://www.sciencedirect.com/science/article/abs/pii/S0377221720300941</a:t>
            </a:r>
            <a:endParaRPr lang="en-US" dirty="0">
              <a:solidFill>
                <a:schemeClr val="accent1"/>
              </a:solidFill>
              <a:latin typeface="Cambria" panose="02040503050406030204" pitchFamily="18" charset="0"/>
              <a:ea typeface="Cambria" panose="02040503050406030204" pitchFamily="18" charset="0"/>
            </a:endParaRPr>
          </a:p>
          <a:p>
            <a:pPr marL="285750" indent="-285750">
              <a:buFont typeface="Wingdings" panose="05000000000000000000" pitchFamily="2" charset="2"/>
              <a:buChar char="Ø"/>
            </a:pPr>
            <a:r>
              <a:rPr lang="en-US" dirty="0">
                <a:latin typeface="Cambria" panose="02040503050406030204" pitchFamily="18" charset="0"/>
                <a:ea typeface="Cambria" panose="02040503050406030204" pitchFamily="18" charset="0"/>
              </a:rPr>
              <a:t>Effects of supply chain competition on firms’ product sustainability strategy  (2020)</a:t>
            </a:r>
          </a:p>
          <a:p>
            <a:r>
              <a:rPr lang="en-US" dirty="0">
                <a:latin typeface="Cambria" panose="02040503050406030204" pitchFamily="18" charset="0"/>
                <a:ea typeface="Cambria" panose="02040503050406030204" pitchFamily="18" charset="0"/>
              </a:rPr>
              <a:t>    Author:  Lipan Feng,  </a:t>
            </a:r>
            <a:r>
              <a:rPr lang="en-US" dirty="0" err="1">
                <a:latin typeface="Cambria" panose="02040503050406030204" pitchFamily="18" charset="0"/>
                <a:ea typeface="Cambria" panose="02040503050406030204" pitchFamily="18" charset="0"/>
              </a:rPr>
              <a:t>Weisheng</a:t>
            </a:r>
            <a:r>
              <a:rPr lang="en-US" dirty="0">
                <a:latin typeface="Cambria" panose="02040503050406030204" pitchFamily="18" charset="0"/>
                <a:ea typeface="Cambria" panose="02040503050406030204" pitchFamily="18" charset="0"/>
              </a:rPr>
              <a:t> Deng</a:t>
            </a:r>
          </a:p>
          <a:p>
            <a:r>
              <a:rPr lang="en-US" dirty="0">
                <a:latin typeface="Cambria" panose="02040503050406030204" pitchFamily="18" charset="0"/>
                <a:ea typeface="Cambria" panose="02040503050406030204" pitchFamily="18" charset="0"/>
              </a:rPr>
              <a:t>    link: </a:t>
            </a:r>
            <a:r>
              <a:rPr lang="en-US" dirty="0">
                <a:solidFill>
                  <a:schemeClr val="accent1"/>
                </a:solidFill>
                <a:latin typeface="Cambria" panose="02040503050406030204" pitchFamily="18" charset="0"/>
                <a:ea typeface="Cambria" panose="02040503050406030204" pitchFamily="18" charset="0"/>
                <a:hlinkClick r:id="rId6"/>
              </a:rPr>
              <a:t>https://www.sciencedirect.com/science/article/abs/pii/S0959652620341068</a:t>
            </a:r>
            <a:endParaRPr lang="en-US" dirty="0">
              <a:solidFill>
                <a:schemeClr val="accent1"/>
              </a:solidFill>
              <a:latin typeface="Cambria" panose="02040503050406030204" pitchFamily="18" charset="0"/>
              <a:ea typeface="Cambria" panose="02040503050406030204" pitchFamily="18" charset="0"/>
            </a:endParaRPr>
          </a:p>
          <a:p>
            <a:endParaRPr lang="en-US" dirty="0">
              <a:solidFill>
                <a:schemeClr val="accent1"/>
              </a:solidFill>
              <a:latin typeface="Cambria" panose="02040503050406030204" pitchFamily="18" charset="0"/>
              <a:ea typeface="Cambria" panose="02040503050406030204" pitchFamily="18" charset="0"/>
            </a:endParaRPr>
          </a:p>
          <a:p>
            <a:endParaRPr lang="en-US" dirty="0">
              <a:solidFill>
                <a:schemeClr val="accent1"/>
              </a:solidFill>
              <a:latin typeface="Cambria" panose="02040503050406030204" pitchFamily="18" charset="0"/>
              <a:ea typeface="Cambria" panose="02040503050406030204" pitchFamily="18" charset="0"/>
            </a:endParaRPr>
          </a:p>
          <a:p>
            <a:endParaRPr lang="en-US" dirty="0">
              <a:solidFill>
                <a:schemeClr val="accent1"/>
              </a:solidFill>
              <a:latin typeface="Cambria" panose="02040503050406030204" pitchFamily="18" charset="0"/>
              <a:ea typeface="Cambria" panose="02040503050406030204" pitchFamily="18" charset="0"/>
            </a:endParaRPr>
          </a:p>
          <a:p>
            <a:endParaRPr lang="en-US" dirty="0">
              <a:solidFill>
                <a:schemeClr val="accent1"/>
              </a:solidFill>
              <a:latin typeface="Cambria" panose="02040503050406030204" pitchFamily="18" charset="0"/>
              <a:ea typeface="Cambria" panose="02040503050406030204" pitchFamily="18" charset="0"/>
            </a:endParaRPr>
          </a:p>
          <a:p>
            <a:endParaRPr lang="en-US" dirty="0">
              <a:solidFill>
                <a:schemeClr val="accent1"/>
              </a:solidFill>
              <a:latin typeface="Cambria" panose="02040503050406030204" pitchFamily="18" charset="0"/>
              <a:ea typeface="Cambria" panose="02040503050406030204" pitchFamily="18" charset="0"/>
            </a:endParaRPr>
          </a:p>
          <a:p>
            <a:endParaRPr lang="en-US" dirty="0">
              <a:solidFill>
                <a:schemeClr val="accent1"/>
              </a:solidFill>
              <a:latin typeface="Cambria" panose="02040503050406030204" pitchFamily="18" charset="0"/>
              <a:ea typeface="Cambria" panose="02040503050406030204" pitchFamily="18" charset="0"/>
            </a:endParaRPr>
          </a:p>
          <a:p>
            <a:endParaRPr lang="en-IN" dirty="0">
              <a:solidFill>
                <a:schemeClr val="accent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56622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2927B1-578F-66BE-0116-658DD49F67D3}"/>
              </a:ext>
            </a:extLst>
          </p:cNvPr>
          <p:cNvSpPr txBox="1"/>
          <p:nvPr/>
        </p:nvSpPr>
        <p:spPr>
          <a:xfrm>
            <a:off x="751840" y="399534"/>
            <a:ext cx="6096000" cy="523220"/>
          </a:xfrm>
          <a:prstGeom prst="rect">
            <a:avLst/>
          </a:prstGeom>
          <a:noFill/>
        </p:spPr>
        <p:txBody>
          <a:bodyPr wrap="square">
            <a:spAutoFit/>
          </a:bodyPr>
          <a:lstStyle/>
          <a:p>
            <a:r>
              <a:rPr lang="en-GB" sz="2800" b="1" dirty="0">
                <a:solidFill>
                  <a:schemeClr val="tx2">
                    <a:lumMod val="75000"/>
                  </a:schemeClr>
                </a:solidFill>
                <a:latin typeface="Verdana" panose="020B0604030504040204" pitchFamily="34" charset="0"/>
                <a:ea typeface="Verdana" panose="020B0604030504040204" pitchFamily="34" charset="0"/>
              </a:rPr>
              <a:t>References</a:t>
            </a:r>
            <a:endParaRPr lang="en-IN" sz="2800" b="1" dirty="0">
              <a:solidFill>
                <a:schemeClr val="tx2">
                  <a:lumMod val="75000"/>
                </a:schemeClr>
              </a:solidFill>
              <a:latin typeface="Verdana" panose="020B0604030504040204" pitchFamily="34" charset="0"/>
              <a:ea typeface="Verdana" panose="020B0604030504040204" pitchFamily="34" charset="0"/>
            </a:endParaRPr>
          </a:p>
        </p:txBody>
      </p:sp>
      <p:sp>
        <p:nvSpPr>
          <p:cNvPr id="5" name="TextBox 4">
            <a:extLst>
              <a:ext uri="{FF2B5EF4-FFF2-40B4-BE49-F238E27FC236}">
                <a16:creationId xmlns:a16="http://schemas.microsoft.com/office/drawing/2014/main" id="{791CB373-AC6A-B510-7303-2F88078EB454}"/>
              </a:ext>
            </a:extLst>
          </p:cNvPr>
          <p:cNvSpPr txBox="1"/>
          <p:nvPr/>
        </p:nvSpPr>
        <p:spPr>
          <a:xfrm>
            <a:off x="81280" y="922755"/>
            <a:ext cx="11998960" cy="6186309"/>
          </a:xfrm>
          <a:prstGeom prst="rect">
            <a:avLst/>
          </a:prstGeom>
          <a:noFill/>
        </p:spPr>
        <p:txBody>
          <a:bodyPr wrap="square">
            <a:spAutoFit/>
          </a:bodyPr>
          <a:lstStyle/>
          <a:p>
            <a:pPr marL="285750" indent="-285750">
              <a:buFont typeface="Wingdings" panose="05000000000000000000" pitchFamily="2" charset="2"/>
              <a:buChar char="Ø"/>
            </a:pPr>
            <a:r>
              <a:rPr lang="en-IN" dirty="0">
                <a:latin typeface="Cambria" panose="02040503050406030204" pitchFamily="18" charset="0"/>
                <a:ea typeface="Cambria" panose="02040503050406030204" pitchFamily="18" charset="0"/>
              </a:rPr>
              <a:t>Applying blockchain technology to improve agri-food traceability: A review of development methods, benefits and challenges  (2020)</a:t>
            </a:r>
          </a:p>
          <a:p>
            <a:r>
              <a:rPr lang="en-IN" dirty="0">
                <a:latin typeface="Cambria" panose="02040503050406030204" pitchFamily="18" charset="0"/>
                <a:ea typeface="Cambria" panose="02040503050406030204" pitchFamily="18" charset="0"/>
              </a:rPr>
              <a:t>     Authors: Huanhuan Feng, Yanqing Duan</a:t>
            </a:r>
          </a:p>
          <a:p>
            <a:r>
              <a:rPr lang="en-IN" dirty="0">
                <a:latin typeface="Cambria" panose="02040503050406030204" pitchFamily="18" charset="0"/>
                <a:ea typeface="Cambria" panose="02040503050406030204" pitchFamily="18" charset="0"/>
              </a:rPr>
              <a:t>     link: </a:t>
            </a:r>
            <a:r>
              <a:rPr lang="en-IN" dirty="0">
                <a:solidFill>
                  <a:schemeClr val="accent1"/>
                </a:solidFill>
                <a:latin typeface="Cambria" panose="02040503050406030204" pitchFamily="18" charset="0"/>
                <a:ea typeface="Cambria" panose="02040503050406030204" pitchFamily="18" charset="0"/>
                <a:hlinkClick r:id="rId2"/>
              </a:rPr>
              <a:t>https://www.sciencedirect.com/science/article/abs/pii/S0959652620310787</a:t>
            </a:r>
            <a:r>
              <a:rPr lang="en-IN" dirty="0">
                <a:solidFill>
                  <a:schemeClr val="accent1"/>
                </a:solidFill>
                <a:latin typeface="Cambria" panose="02040503050406030204" pitchFamily="18" charset="0"/>
                <a:ea typeface="Cambria" panose="02040503050406030204" pitchFamily="18" charset="0"/>
              </a:rPr>
              <a:t> </a:t>
            </a:r>
          </a:p>
          <a:p>
            <a:pPr marL="285750" indent="-285750">
              <a:buFont typeface="Wingdings" panose="05000000000000000000" pitchFamily="2" charset="2"/>
              <a:buChar char="Ø"/>
            </a:pPr>
            <a:r>
              <a:rPr lang="en-US" dirty="0">
                <a:latin typeface="Cambria" panose="02040503050406030204" pitchFamily="18" charset="0"/>
                <a:ea typeface="Cambria" panose="02040503050406030204" pitchFamily="18" charset="0"/>
              </a:rPr>
              <a:t>Permissioned Blockchain-Based Double-Layer Framework for Product Traceability System  (2020)</a:t>
            </a:r>
          </a:p>
          <a:p>
            <a:r>
              <a:rPr lang="en-US" dirty="0">
                <a:latin typeface="Cambria" panose="02040503050406030204" pitchFamily="18" charset="0"/>
                <a:ea typeface="Cambria" panose="02040503050406030204" pitchFamily="18" charset="0"/>
              </a:rPr>
              <a:t>     Authors: </a:t>
            </a:r>
            <a:r>
              <a:rPr lang="en-US" dirty="0" err="1">
                <a:latin typeface="Cambria" panose="02040503050406030204" pitchFamily="18" charset="0"/>
                <a:ea typeface="Cambria" panose="02040503050406030204" pitchFamily="18" charset="0"/>
              </a:rPr>
              <a:t>Qingyang</a:t>
            </a:r>
            <a:r>
              <a:rPr lang="en-US" dirty="0">
                <a:latin typeface="Cambria" panose="02040503050406030204" pitchFamily="18" charset="0"/>
                <a:ea typeface="Cambria" panose="02040503050406030204" pitchFamily="18" charset="0"/>
              </a:rPr>
              <a:t> Ding, Sheng Gao</a:t>
            </a:r>
          </a:p>
          <a:p>
            <a:r>
              <a:rPr lang="en-US" dirty="0">
                <a:latin typeface="Cambria" panose="02040503050406030204" pitchFamily="18" charset="0"/>
                <a:ea typeface="Cambria" panose="02040503050406030204" pitchFamily="18" charset="0"/>
              </a:rPr>
              <a:t>     link: </a:t>
            </a:r>
            <a:r>
              <a:rPr lang="en-US" dirty="0">
                <a:solidFill>
                  <a:schemeClr val="accent1"/>
                </a:solidFill>
                <a:latin typeface="Cambria" panose="02040503050406030204" pitchFamily="18" charset="0"/>
                <a:ea typeface="Cambria" panose="02040503050406030204" pitchFamily="18" charset="0"/>
                <a:hlinkClick r:id="rId3"/>
              </a:rPr>
              <a:t>https://ieeexplore.ieee.org/abstract/document/8943216</a:t>
            </a:r>
            <a:r>
              <a:rPr lang="en-IN" dirty="0">
                <a:solidFill>
                  <a:schemeClr val="accent1"/>
                </a:solidFill>
                <a:latin typeface="Cambria" panose="02040503050406030204" pitchFamily="18" charset="0"/>
                <a:ea typeface="Cambria" panose="02040503050406030204" pitchFamily="18" charset="0"/>
                <a:hlinkClick r:id="rId3"/>
              </a:rPr>
              <a:t> </a:t>
            </a:r>
            <a:endParaRPr lang="en-IN" dirty="0">
              <a:solidFill>
                <a:schemeClr val="accent1"/>
              </a:solidFill>
              <a:latin typeface="Cambria" panose="02040503050406030204" pitchFamily="18" charset="0"/>
              <a:ea typeface="Cambria" panose="02040503050406030204" pitchFamily="18" charset="0"/>
            </a:endParaRPr>
          </a:p>
          <a:p>
            <a:pPr marL="285750" indent="-285750">
              <a:buFont typeface="Wingdings" panose="05000000000000000000" pitchFamily="2" charset="2"/>
              <a:buChar char="Ø"/>
            </a:pPr>
            <a:r>
              <a:rPr lang="en-US" dirty="0">
                <a:latin typeface="Cambria" panose="02040503050406030204" pitchFamily="18" charset="0"/>
                <a:ea typeface="Cambria" panose="02040503050406030204" pitchFamily="18" charset="0"/>
              </a:rPr>
              <a:t>The Quality Control System of Green Composite Wind Turbine Blade Supply Chain Based on Blockchain Technology (2021)</a:t>
            </a:r>
          </a:p>
          <a:p>
            <a:r>
              <a:rPr lang="en-US" dirty="0">
                <a:latin typeface="Cambria" panose="02040503050406030204" pitchFamily="18" charset="0"/>
                <a:ea typeface="Cambria" panose="02040503050406030204" pitchFamily="18" charset="0"/>
              </a:rPr>
              <a:t>     Authors: </a:t>
            </a:r>
            <a:r>
              <a:rPr lang="en-US" dirty="0" err="1">
                <a:latin typeface="Cambria" panose="02040503050406030204" pitchFamily="18" charset="0"/>
                <a:ea typeface="Cambria" panose="02040503050406030204" pitchFamily="18" charset="0"/>
              </a:rPr>
              <a:t>Senlai</a:t>
            </a:r>
            <a:r>
              <a:rPr lang="en-US" dirty="0">
                <a:latin typeface="Cambria" panose="02040503050406030204" pitchFamily="18" charset="0"/>
                <a:ea typeface="Cambria" panose="02040503050406030204" pitchFamily="18" charset="0"/>
              </a:rPr>
              <a:t> Zhu, Jie Yang</a:t>
            </a:r>
          </a:p>
          <a:p>
            <a:r>
              <a:rPr lang="en-US" dirty="0">
                <a:latin typeface="Cambria" panose="02040503050406030204" pitchFamily="18" charset="0"/>
                <a:ea typeface="Cambria" panose="02040503050406030204" pitchFamily="18" charset="0"/>
              </a:rPr>
              <a:t>     link: </a:t>
            </a:r>
            <a:r>
              <a:rPr lang="en-US" dirty="0">
                <a:solidFill>
                  <a:schemeClr val="accent1"/>
                </a:solidFill>
                <a:latin typeface="Cambria" panose="02040503050406030204" pitchFamily="18" charset="0"/>
                <a:ea typeface="Cambria" panose="02040503050406030204" pitchFamily="18" charset="0"/>
                <a:hlinkClick r:id="rId4"/>
              </a:rPr>
              <a:t>https://mdpi.com/2071-1050/13/15/8331</a:t>
            </a:r>
            <a:endParaRPr lang="en-US" dirty="0">
              <a:solidFill>
                <a:schemeClr val="accent1"/>
              </a:solidFill>
              <a:latin typeface="Cambria" panose="02040503050406030204" pitchFamily="18" charset="0"/>
              <a:ea typeface="Cambria" panose="02040503050406030204" pitchFamily="18" charset="0"/>
            </a:endParaRPr>
          </a:p>
          <a:p>
            <a:pPr marL="285750" indent="-285750">
              <a:buFont typeface="Wingdings" panose="05000000000000000000" pitchFamily="2" charset="2"/>
              <a:buChar char="Ø"/>
            </a:pPr>
            <a:r>
              <a:rPr lang="en-US" dirty="0">
                <a:latin typeface="Cambria" panose="02040503050406030204" pitchFamily="18" charset="0"/>
                <a:ea typeface="Cambria" panose="02040503050406030204" pitchFamily="18" charset="0"/>
              </a:rPr>
              <a:t>Guest editorial: Supply chain transparency: opportunities, challenges and risks  (2024)</a:t>
            </a:r>
          </a:p>
          <a:p>
            <a:r>
              <a:rPr lang="en-US" dirty="0">
                <a:latin typeface="Cambria" panose="02040503050406030204" pitchFamily="18" charset="0"/>
                <a:ea typeface="Cambria" panose="02040503050406030204" pitchFamily="18" charset="0"/>
              </a:rPr>
              <a:t>     Authors: </a:t>
            </a:r>
            <a:r>
              <a:rPr lang="en-US" dirty="0" err="1">
                <a:latin typeface="Cambria" panose="02040503050406030204" pitchFamily="18" charset="0"/>
                <a:ea typeface="Cambria" panose="02040503050406030204" pitchFamily="18" charset="0"/>
              </a:rPr>
              <a:t>Lujie</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Chen,Stefan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Seuring</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    link: </a:t>
            </a:r>
            <a:r>
              <a:rPr lang="en-US" dirty="0">
                <a:solidFill>
                  <a:schemeClr val="accent1"/>
                </a:solidFill>
                <a:latin typeface="Cambria" panose="02040503050406030204" pitchFamily="18" charset="0"/>
                <a:ea typeface="Cambria" panose="02040503050406030204" pitchFamily="18" charset="0"/>
                <a:hlinkClick r:id="rId5"/>
              </a:rPr>
              <a:t>https://www.emerald.com/insight/content/doi/10.1108/IJOPM-09-2024-992/full/html#sec001</a:t>
            </a:r>
            <a:endParaRPr lang="en-US" dirty="0">
              <a:solidFill>
                <a:schemeClr val="accent1"/>
              </a:solidFill>
              <a:latin typeface="Cambria" panose="02040503050406030204" pitchFamily="18" charset="0"/>
              <a:ea typeface="Cambria" panose="02040503050406030204" pitchFamily="18" charset="0"/>
            </a:endParaRPr>
          </a:p>
          <a:p>
            <a:pPr marL="285750" indent="-285750">
              <a:buFont typeface="Wingdings" panose="05000000000000000000" pitchFamily="2" charset="2"/>
              <a:buChar char="Ø"/>
            </a:pPr>
            <a:r>
              <a:rPr lang="en-US" dirty="0">
                <a:latin typeface="Cambria" panose="02040503050406030204" pitchFamily="18" charset="0"/>
                <a:ea typeface="Cambria" panose="02040503050406030204" pitchFamily="18" charset="0"/>
              </a:rPr>
              <a:t>Digitally-enabled sustainable supply chains in the 21st century: A review and a research agenda  (2020)</a:t>
            </a:r>
          </a:p>
          <a:p>
            <a:r>
              <a:rPr lang="en-US" dirty="0">
                <a:latin typeface="Cambria" panose="02040503050406030204" pitchFamily="18" charset="0"/>
                <a:ea typeface="Cambria" panose="02040503050406030204" pitchFamily="18" charset="0"/>
              </a:rPr>
              <a:t>     Authors: </a:t>
            </a:r>
            <a:r>
              <a:rPr lang="en-US" dirty="0" err="1">
                <a:latin typeface="Cambria" panose="02040503050406030204" pitchFamily="18" charset="0"/>
                <a:ea typeface="Cambria" panose="02040503050406030204" pitchFamily="18" charset="0"/>
              </a:rPr>
              <a:t>Maciel</a:t>
            </a:r>
            <a:r>
              <a:rPr lang="en-US" dirty="0">
                <a:latin typeface="Cambria" panose="02040503050406030204" pitchFamily="18" charset="0"/>
                <a:ea typeface="Cambria" panose="02040503050406030204" pitchFamily="18" charset="0"/>
              </a:rPr>
              <a:t> M. Queiroz, </a:t>
            </a:r>
            <a:r>
              <a:rPr lang="en-US" dirty="0" err="1">
                <a:latin typeface="Cambria" panose="02040503050406030204" pitchFamily="18" charset="0"/>
                <a:ea typeface="Cambria" panose="02040503050406030204" pitchFamily="18" charset="0"/>
              </a:rPr>
              <a:t>Éderson</a:t>
            </a:r>
            <a:r>
              <a:rPr lang="en-US" dirty="0">
                <a:latin typeface="Cambria" panose="02040503050406030204" pitchFamily="18" charset="0"/>
                <a:ea typeface="Cambria" panose="02040503050406030204" pitchFamily="18" charset="0"/>
              </a:rPr>
              <a:t> Luiz </a:t>
            </a:r>
            <a:r>
              <a:rPr lang="en-US" dirty="0" err="1">
                <a:latin typeface="Cambria" panose="02040503050406030204" pitchFamily="18" charset="0"/>
                <a:ea typeface="Cambria" panose="02040503050406030204" pitchFamily="18" charset="0"/>
              </a:rPr>
              <a:t>Piato</a:t>
            </a:r>
            <a:r>
              <a:rPr lang="en-US" dirty="0">
                <a:latin typeface="Cambria" panose="02040503050406030204" pitchFamily="18" charset="0"/>
                <a:ea typeface="Cambria" panose="02040503050406030204" pitchFamily="18" charset="0"/>
              </a:rPr>
              <a:t> </a:t>
            </a:r>
          </a:p>
          <a:p>
            <a:r>
              <a:rPr lang="en-US" dirty="0">
                <a:latin typeface="Cambria" panose="02040503050406030204" pitchFamily="18" charset="0"/>
                <a:ea typeface="Cambria" panose="02040503050406030204" pitchFamily="18" charset="0"/>
              </a:rPr>
              <a:t>     link: </a:t>
            </a:r>
            <a:r>
              <a:rPr lang="en-US" dirty="0">
                <a:solidFill>
                  <a:schemeClr val="accent1"/>
                </a:solidFill>
                <a:latin typeface="Cambria" panose="02040503050406030204" pitchFamily="18" charset="0"/>
                <a:ea typeface="Cambria" panose="02040503050406030204" pitchFamily="18" charset="0"/>
                <a:hlinkClick r:id="rId6"/>
              </a:rPr>
              <a:t>https://www.sciencedirect.com/science/article/abs/pii/S0048969720316909</a:t>
            </a:r>
            <a:endParaRPr lang="en-US" dirty="0">
              <a:solidFill>
                <a:schemeClr val="accent1"/>
              </a:solidFill>
              <a:latin typeface="Cambria" panose="02040503050406030204" pitchFamily="18" charset="0"/>
              <a:ea typeface="Cambria" panose="02040503050406030204" pitchFamily="18" charset="0"/>
            </a:endParaRPr>
          </a:p>
          <a:p>
            <a:endParaRPr lang="en-US" dirty="0">
              <a:solidFill>
                <a:schemeClr val="accent1"/>
              </a:solidFill>
              <a:latin typeface="Cambria" panose="02040503050406030204" pitchFamily="18" charset="0"/>
              <a:ea typeface="Cambria" panose="02040503050406030204" pitchFamily="18" charset="0"/>
            </a:endParaRPr>
          </a:p>
          <a:p>
            <a:endParaRPr lang="en-IN" dirty="0">
              <a:solidFill>
                <a:schemeClr val="accent1"/>
              </a:solidFill>
              <a:latin typeface="Cambria" panose="02040503050406030204" pitchFamily="18" charset="0"/>
              <a:ea typeface="Cambria" panose="02040503050406030204" pitchFamily="18" charset="0"/>
            </a:endParaRPr>
          </a:p>
          <a:p>
            <a:pPr marL="285750" indent="-285750">
              <a:buFont typeface="Wingdings" panose="05000000000000000000" pitchFamily="2" charset="2"/>
              <a:buChar char="Ø"/>
            </a:pPr>
            <a:endParaRPr lang="en-IN" dirty="0">
              <a:solidFill>
                <a:schemeClr val="accent1"/>
              </a:solidFill>
              <a:latin typeface="Cambria" panose="02040503050406030204" pitchFamily="18" charset="0"/>
              <a:ea typeface="Cambria" panose="02040503050406030204" pitchFamily="18" charset="0"/>
            </a:endParaRPr>
          </a:p>
          <a:p>
            <a:endParaRPr lang="en-IN" dirty="0">
              <a:solidFill>
                <a:schemeClr val="accent1"/>
              </a:solidFill>
              <a:latin typeface="Cambria" panose="02040503050406030204" pitchFamily="18" charset="0"/>
              <a:ea typeface="Cambria" panose="02040503050406030204" pitchFamily="18" charset="0"/>
            </a:endParaRPr>
          </a:p>
          <a:p>
            <a:endParaRPr lang="en-IN" dirty="0">
              <a:solidFill>
                <a:schemeClr val="accent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603688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583EDC-3BEC-C9A0-B716-918B4927E84C}"/>
              </a:ext>
            </a:extLst>
          </p:cNvPr>
          <p:cNvSpPr txBox="1"/>
          <p:nvPr/>
        </p:nvSpPr>
        <p:spPr>
          <a:xfrm>
            <a:off x="944880" y="348734"/>
            <a:ext cx="6096000" cy="523220"/>
          </a:xfrm>
          <a:prstGeom prst="rect">
            <a:avLst/>
          </a:prstGeom>
          <a:noFill/>
        </p:spPr>
        <p:txBody>
          <a:bodyPr wrap="square">
            <a:spAutoFit/>
          </a:bodyPr>
          <a:lstStyle/>
          <a:p>
            <a:r>
              <a:rPr lang="en-GB" sz="2800" b="1" dirty="0">
                <a:solidFill>
                  <a:schemeClr val="tx2">
                    <a:lumMod val="75000"/>
                  </a:schemeClr>
                </a:solidFill>
                <a:latin typeface="Verdana" panose="020B0604030504040204" pitchFamily="34" charset="0"/>
                <a:ea typeface="Verdana" panose="020B0604030504040204" pitchFamily="34" charset="0"/>
              </a:rPr>
              <a:t>References</a:t>
            </a:r>
            <a:endParaRPr lang="en-IN" sz="2800" b="1" dirty="0">
              <a:solidFill>
                <a:schemeClr val="tx2">
                  <a:lumMod val="75000"/>
                </a:schemeClr>
              </a:solidFill>
              <a:latin typeface="Verdana" panose="020B0604030504040204" pitchFamily="34" charset="0"/>
              <a:ea typeface="Verdana" panose="020B0604030504040204" pitchFamily="34" charset="0"/>
            </a:endParaRPr>
          </a:p>
        </p:txBody>
      </p:sp>
      <p:sp>
        <p:nvSpPr>
          <p:cNvPr id="5" name="TextBox 4">
            <a:extLst>
              <a:ext uri="{FF2B5EF4-FFF2-40B4-BE49-F238E27FC236}">
                <a16:creationId xmlns:a16="http://schemas.microsoft.com/office/drawing/2014/main" id="{FE5F1A05-3B49-9CAF-7D5C-C0A457E96D6E}"/>
              </a:ext>
            </a:extLst>
          </p:cNvPr>
          <p:cNvSpPr txBox="1"/>
          <p:nvPr/>
        </p:nvSpPr>
        <p:spPr>
          <a:xfrm>
            <a:off x="0" y="871954"/>
            <a:ext cx="12059920" cy="7017306"/>
          </a:xfrm>
          <a:prstGeom prst="rect">
            <a:avLst/>
          </a:prstGeom>
          <a:noFill/>
        </p:spPr>
        <p:txBody>
          <a:bodyPr wrap="square">
            <a:spAutoFit/>
          </a:bodyPr>
          <a:lstStyle/>
          <a:p>
            <a:pPr marL="285750" indent="-285750">
              <a:buFont typeface="Wingdings" panose="05000000000000000000" pitchFamily="2" charset="2"/>
              <a:buChar char="Ø"/>
            </a:pPr>
            <a:r>
              <a:rPr lang="en-US" dirty="0">
                <a:latin typeface="Cambria" panose="02040503050406030204" pitchFamily="18" charset="0"/>
                <a:ea typeface="Cambria" panose="02040503050406030204" pitchFamily="18" charset="0"/>
              </a:rPr>
              <a:t>Blockchain and Related Technologies to Support Manufacturing Supply Chain Traceability   (2022)</a:t>
            </a:r>
          </a:p>
          <a:p>
            <a:r>
              <a:rPr lang="en-US" dirty="0">
                <a:latin typeface="Cambria" panose="02040503050406030204" pitchFamily="18" charset="0"/>
                <a:ea typeface="Cambria" panose="02040503050406030204" pitchFamily="18" charset="0"/>
              </a:rPr>
              <a:t>     Authors: Michael Pease, Steve </a:t>
            </a:r>
            <a:r>
              <a:rPr lang="en-US" dirty="0" err="1">
                <a:latin typeface="Cambria" panose="02040503050406030204" pitchFamily="18" charset="0"/>
                <a:ea typeface="Cambria" panose="02040503050406030204" pitchFamily="18" charset="0"/>
              </a:rPr>
              <a:t>Granata</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     link: </a:t>
            </a:r>
            <a:r>
              <a:rPr lang="en-US" dirty="0">
                <a:latin typeface="Cambria" panose="02040503050406030204" pitchFamily="18" charset="0"/>
                <a:ea typeface="Cambria" panose="02040503050406030204" pitchFamily="18" charset="0"/>
                <a:hlinkClick r:id="rId2"/>
              </a:rPr>
              <a:t>https://csrc.nist.gov/pubs/ir/8419/final</a:t>
            </a:r>
            <a:endParaRPr lang="en-US"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Ø"/>
            </a:pPr>
            <a:r>
              <a:rPr lang="en-US" dirty="0">
                <a:latin typeface="Cambria" panose="02040503050406030204" pitchFamily="18" charset="0"/>
                <a:ea typeface="Cambria" panose="02040503050406030204" pitchFamily="18" charset="0"/>
              </a:rPr>
              <a:t>The role of IoT in boosting supply chain transparency and efficiency  (2024)</a:t>
            </a:r>
          </a:p>
          <a:p>
            <a:r>
              <a:rPr lang="en-US" dirty="0">
                <a:latin typeface="Cambria" panose="02040503050406030204" pitchFamily="18" charset="0"/>
                <a:ea typeface="Cambria" panose="02040503050406030204" pitchFamily="18" charset="0"/>
              </a:rPr>
              <a:t>     Authors: Prisca </a:t>
            </a:r>
            <a:r>
              <a:rPr lang="en-US" dirty="0" err="1">
                <a:latin typeface="Cambria" panose="02040503050406030204" pitchFamily="18" charset="0"/>
                <a:ea typeface="Cambria" panose="02040503050406030204" pitchFamily="18" charset="0"/>
              </a:rPr>
              <a:t>Amajuoyi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Kudirat</a:t>
            </a:r>
            <a:r>
              <a:rPr lang="en-US" dirty="0">
                <a:latin typeface="Cambria" panose="02040503050406030204" pitchFamily="18" charset="0"/>
                <a:ea typeface="Cambria" panose="02040503050406030204" pitchFamily="18" charset="0"/>
              </a:rPr>
              <a:t> Bukola </a:t>
            </a:r>
            <a:r>
              <a:rPr lang="en-US" dirty="0" err="1">
                <a:latin typeface="Cambria" panose="02040503050406030204" pitchFamily="18" charset="0"/>
                <a:ea typeface="Cambria" panose="02040503050406030204" pitchFamily="18" charset="0"/>
              </a:rPr>
              <a:t>Adeusi</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     link: </a:t>
            </a:r>
            <a:r>
              <a:rPr lang="en-US" dirty="0">
                <a:latin typeface="Cambria" panose="02040503050406030204" pitchFamily="18" charset="0"/>
                <a:ea typeface="Cambria" panose="02040503050406030204" pitchFamily="18" charset="0"/>
                <a:hlinkClick r:id="rId3"/>
              </a:rPr>
              <a:t>https://yyf.tgdaddy.com/4xj4748_9nqeutquamlrqhluzxfmse/8jiiqsmeohk/5prvjygg/5prjuswj/7hzhjsnqwp/</a:t>
            </a:r>
          </a:p>
          <a:p>
            <a:r>
              <a:rPr lang="en-US" dirty="0">
                <a:latin typeface="Cambria" panose="02040503050406030204" pitchFamily="18" charset="0"/>
                <a:ea typeface="Cambria" panose="02040503050406030204" pitchFamily="18" charset="0"/>
                <a:hlinkClick r:id="rId3"/>
              </a:rPr>
              <a:t>     5preuxwj/MSARR-2024-0081.pdf</a:t>
            </a:r>
            <a:endParaRPr lang="en-US"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Ø"/>
            </a:pPr>
            <a:r>
              <a:rPr lang="en-US" dirty="0">
                <a:latin typeface="Cambria" panose="02040503050406030204" pitchFamily="18" charset="0"/>
                <a:ea typeface="Cambria" panose="02040503050406030204" pitchFamily="18" charset="0"/>
              </a:rPr>
              <a:t>The Role of Blockchain Technology in Promoting Traceability Systems in Agri-Food Production and Supply Chains   (2023)</a:t>
            </a:r>
          </a:p>
          <a:p>
            <a:r>
              <a:rPr lang="en-US" dirty="0">
                <a:latin typeface="Cambria" panose="02040503050406030204" pitchFamily="18" charset="0"/>
                <a:ea typeface="Cambria" panose="02040503050406030204" pitchFamily="18" charset="0"/>
              </a:rPr>
              <a:t>     Authors: Techane </a:t>
            </a:r>
            <a:r>
              <a:rPr lang="en-US" dirty="0" err="1">
                <a:latin typeface="Cambria" panose="02040503050406030204" pitchFamily="18" charset="0"/>
                <a:ea typeface="Cambria" panose="02040503050406030204" pitchFamily="18" charset="0"/>
              </a:rPr>
              <a:t>Bosona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Girma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Gebresenbet</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     link: </a:t>
            </a:r>
            <a:r>
              <a:rPr lang="en-US" dirty="0">
                <a:latin typeface="Cambria" panose="02040503050406030204" pitchFamily="18" charset="0"/>
                <a:ea typeface="Cambria" panose="02040503050406030204" pitchFamily="18" charset="0"/>
                <a:hlinkClick r:id="rId4"/>
              </a:rPr>
              <a:t>https://www.mdpi.com/1424-8220/23/11/5342</a:t>
            </a:r>
            <a:endParaRPr lang="en-US"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Ø"/>
            </a:pPr>
            <a:r>
              <a:rPr lang="en-US" dirty="0">
                <a:latin typeface="Cambria" panose="02040503050406030204" pitchFamily="18" charset="0"/>
                <a:ea typeface="Cambria" panose="02040503050406030204" pitchFamily="18" charset="0"/>
              </a:rPr>
              <a:t>A Review and Classification Framework of Traceability Approaches for Identifying Product Supply Chain Counterfeiting  (2022)</a:t>
            </a:r>
          </a:p>
          <a:p>
            <a:r>
              <a:rPr lang="en-US" dirty="0">
                <a:latin typeface="Cambria" panose="02040503050406030204" pitchFamily="18" charset="0"/>
                <a:ea typeface="Cambria" panose="02040503050406030204" pitchFamily="18" charset="0"/>
              </a:rPr>
              <a:t>    Authors: Sotiris P. </a:t>
            </a:r>
            <a:r>
              <a:rPr lang="en-US" dirty="0" err="1">
                <a:latin typeface="Cambria" panose="02040503050406030204" pitchFamily="18" charset="0"/>
                <a:ea typeface="Cambria" panose="02040503050406030204" pitchFamily="18" charset="0"/>
              </a:rPr>
              <a:t>Gayialis</a:t>
            </a:r>
            <a:r>
              <a:rPr lang="en-US" dirty="0">
                <a:latin typeface="Cambria" panose="02040503050406030204" pitchFamily="18" charset="0"/>
                <a:ea typeface="Cambria" panose="02040503050406030204" pitchFamily="18" charset="0"/>
              </a:rPr>
              <a:t>, Dimitrios </a:t>
            </a:r>
            <a:r>
              <a:rPr lang="en-US" dirty="0" err="1">
                <a:latin typeface="Cambria" panose="02040503050406030204" pitchFamily="18" charset="0"/>
                <a:ea typeface="Cambria" panose="02040503050406030204" pitchFamily="18" charset="0"/>
              </a:rPr>
              <a:t>Masouras</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    link: </a:t>
            </a:r>
            <a:r>
              <a:rPr lang="en-US" dirty="0">
                <a:latin typeface="Cambria" panose="02040503050406030204" pitchFamily="18" charset="0"/>
                <a:ea typeface="Cambria" panose="02040503050406030204" pitchFamily="18" charset="0"/>
                <a:hlinkClick r:id="rId5"/>
              </a:rPr>
              <a:t>https://www.mdpi.com/2071-1050/14/11/6666</a:t>
            </a:r>
            <a:endParaRPr lang="en-US"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Ø"/>
            </a:pPr>
            <a:r>
              <a:rPr lang="en-US" dirty="0">
                <a:latin typeface="Cambria" panose="02040503050406030204" pitchFamily="18" charset="0"/>
                <a:ea typeface="Cambria" panose="02040503050406030204" pitchFamily="18" charset="0"/>
              </a:rPr>
              <a:t>Global Value Chains’ Disaggregation through Supply Chain Collaboration, Market Turbulence, and Performance Outcomes  (2021)</a:t>
            </a:r>
          </a:p>
          <a:p>
            <a:r>
              <a:rPr lang="en-US" dirty="0">
                <a:latin typeface="Cambria" panose="02040503050406030204" pitchFamily="18" charset="0"/>
                <a:ea typeface="Cambria" panose="02040503050406030204" pitchFamily="18" charset="0"/>
              </a:rPr>
              <a:t>    Authors: Amit Arora, Anshu Arora </a:t>
            </a:r>
          </a:p>
          <a:p>
            <a:r>
              <a:rPr lang="en-US" dirty="0">
                <a:latin typeface="Cambria" panose="02040503050406030204" pitchFamily="18" charset="0"/>
                <a:ea typeface="Cambria" panose="02040503050406030204" pitchFamily="18" charset="0"/>
              </a:rPr>
              <a:t>    link: </a:t>
            </a:r>
            <a:r>
              <a:rPr lang="en-US" dirty="0">
                <a:solidFill>
                  <a:schemeClr val="accent1"/>
                </a:solidFill>
                <a:latin typeface="Cambria" panose="02040503050406030204" pitchFamily="18" charset="0"/>
                <a:ea typeface="Cambria" panose="02040503050406030204" pitchFamily="18" charset="0"/>
                <a:hlinkClick r:id="rId6"/>
              </a:rPr>
              <a:t>https://www.mdpi.com/2071-1050/13/8/4151</a:t>
            </a:r>
            <a:endParaRPr lang="en-US" dirty="0">
              <a:solidFill>
                <a:schemeClr val="accent1"/>
              </a:solidFill>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9881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38A02-66E7-D4A9-0B63-EC7A4969F9A5}"/>
              </a:ext>
            </a:extLst>
          </p:cNvPr>
          <p:cNvSpPr>
            <a:spLocks noGrp="1"/>
          </p:cNvSpPr>
          <p:nvPr>
            <p:ph type="title"/>
          </p:nvPr>
        </p:nvSpPr>
        <p:spPr/>
        <p:txBody>
          <a:bodyPr/>
          <a:lstStyle/>
          <a:p>
            <a:r>
              <a:rPr lang="en-US" dirty="0"/>
              <a:t>Project work mapping with SDG</a:t>
            </a:r>
            <a:endParaRPr lang="en-IN" dirty="0"/>
          </a:p>
        </p:txBody>
      </p:sp>
      <p:sp>
        <p:nvSpPr>
          <p:cNvPr id="4" name="AutoShape 2" descr="Image preview">
            <a:extLst>
              <a:ext uri="{FF2B5EF4-FFF2-40B4-BE49-F238E27FC236}">
                <a16:creationId xmlns:a16="http://schemas.microsoft.com/office/drawing/2014/main" id="{96B0E362-745E-C478-1396-BA189B71502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Image preview">
            <a:extLst>
              <a:ext uri="{FF2B5EF4-FFF2-40B4-BE49-F238E27FC236}">
                <a16:creationId xmlns:a16="http://schemas.microsoft.com/office/drawing/2014/main" id="{EA944A2A-59CE-0D28-76C1-2B1B38111B31}"/>
              </a:ext>
            </a:extLst>
          </p:cNvPr>
          <p:cNvSpPr>
            <a:spLocks noGrp="1" noChangeAspect="1" noChangeArrowheads="1"/>
          </p:cNvSpPr>
          <p:nvPr>
            <p:ph type="body" idx="1"/>
          </p:nvPr>
        </p:nvSpPr>
        <p:spPr bwMode="auto">
          <a:xfrm>
            <a:off x="457416" y="1106905"/>
            <a:ext cx="11277168" cy="547645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p>
            <a:pPr>
              <a:buFont typeface="Wingdings" panose="05000000000000000000" pitchFamily="2" charset="2"/>
              <a:buChar char="Ø"/>
            </a:pPr>
            <a:r>
              <a:rPr lang="en-US" sz="1800" dirty="0">
                <a:latin typeface="Cambria" panose="02040503050406030204" pitchFamily="18" charset="0"/>
                <a:ea typeface="Cambria" panose="02040503050406030204" pitchFamily="18" charset="0"/>
              </a:rPr>
              <a:t>The key SDGs often related to supply chains are:</a:t>
            </a:r>
          </a:p>
          <a:p>
            <a:pPr>
              <a:buFont typeface="Wingdings" panose="05000000000000000000" pitchFamily="2" charset="2"/>
              <a:buChar char="Ø"/>
            </a:pPr>
            <a:r>
              <a:rPr lang="en-US" sz="1800" dirty="0">
                <a:latin typeface="Cambria" panose="02040503050406030204" pitchFamily="18" charset="0"/>
                <a:ea typeface="Cambria" panose="02040503050406030204" pitchFamily="18" charset="0"/>
              </a:rPr>
              <a:t>SDG 12: Responsible Consumption and Production Track and trace systems help reduce waste, ensure efficient resource use, and promote transparency.</a:t>
            </a:r>
          </a:p>
          <a:p>
            <a:pPr>
              <a:buFont typeface="Wingdings" panose="05000000000000000000" pitchFamily="2" charset="2"/>
              <a:buChar char="Ø"/>
            </a:pPr>
            <a:r>
              <a:rPr lang="en-US" sz="1800" dirty="0">
                <a:latin typeface="Cambria" panose="02040503050406030204" pitchFamily="18" charset="0"/>
                <a:ea typeface="Cambria" panose="02040503050406030204" pitchFamily="18" charset="0"/>
              </a:rPr>
              <a:t>SDG 9: Industry, Innovation, and Infrastructure These systems drive technological advancements and promote modern infrastructure in supply chains .</a:t>
            </a:r>
          </a:p>
          <a:p>
            <a:pPr>
              <a:buFont typeface="Wingdings" panose="05000000000000000000" pitchFamily="2" charset="2"/>
              <a:buChar char="Ø"/>
            </a:pPr>
            <a:r>
              <a:rPr lang="en-US" sz="1800" dirty="0">
                <a:latin typeface="Cambria" panose="02040503050406030204" pitchFamily="18" charset="0"/>
                <a:ea typeface="Cambria" panose="02040503050406030204" pitchFamily="18" charset="0"/>
              </a:rPr>
              <a:t>SDG 13: Climate Action By optimizing transportation and production processes, track and trace systems can reduce carbon footprints . SDG 8: Decent Work and Economic Growth Enhancing supply chain visibility improves efficiency, creates fairer working conditions, and supports economic growth . </a:t>
            </a:r>
          </a:p>
          <a:p>
            <a:pPr>
              <a:buFont typeface="Wingdings" panose="05000000000000000000" pitchFamily="2" charset="2"/>
              <a:buChar char="Ø"/>
            </a:pPr>
            <a:r>
              <a:rPr lang="en-US" sz="1800" dirty="0">
                <a:latin typeface="Cambria" panose="02040503050406030204" pitchFamily="18" charset="0"/>
                <a:ea typeface="Cambria" panose="02040503050406030204" pitchFamily="18" charset="0"/>
              </a:rPr>
              <a:t>SDG 17: Partnerships for the Goals Track and trace fosters cooperation among suppliers, manufacturers, retailers, and regulators to achieve sustainability goals  </a:t>
            </a:r>
          </a:p>
          <a:p>
            <a:pPr>
              <a:buFont typeface="Wingdings" panose="05000000000000000000" pitchFamily="2" charset="2"/>
              <a:buChar char="Ø"/>
            </a:pPr>
            <a:r>
              <a:rPr lang="en-US" sz="1800" dirty="0">
                <a:latin typeface="Cambria" panose="02040503050406030204" pitchFamily="18" charset="0"/>
                <a:ea typeface="Cambria" panose="02040503050406030204" pitchFamily="18" charset="0"/>
              </a:rPr>
              <a:t>Simple SDG Diagram for Track and Trace Supply Chain: Center: Track and Trace Supply Chain . </a:t>
            </a:r>
          </a:p>
          <a:p>
            <a:pPr marL="0" indent="0">
              <a:buNone/>
            </a:pPr>
            <a:r>
              <a:rPr lang="en-US" sz="1800" dirty="0">
                <a:latin typeface="Cambria" panose="02040503050406030204" pitchFamily="18" charset="0"/>
                <a:ea typeface="Cambria" panose="02040503050406030204" pitchFamily="18" charset="0"/>
              </a:rPr>
              <a:t>       Surrounding SDGs : SDG 12 (Responsible Consumption &amp; Production)</a:t>
            </a:r>
          </a:p>
          <a:p>
            <a:pPr marL="0" indent="0">
              <a:buNone/>
            </a:pPr>
            <a:r>
              <a:rPr lang="en-US" sz="1800" dirty="0">
                <a:latin typeface="Cambria" panose="02040503050406030204" pitchFamily="18" charset="0"/>
                <a:ea typeface="Cambria" panose="02040503050406030204" pitchFamily="18" charset="0"/>
              </a:rPr>
              <a:t>                                             SDG 9 (Industry, Innovation &amp; Infrastructure)</a:t>
            </a:r>
          </a:p>
          <a:p>
            <a:pPr marL="0" indent="0">
              <a:buNone/>
            </a:pPr>
            <a:r>
              <a:rPr lang="en-US" sz="1800" dirty="0">
                <a:latin typeface="Cambria" panose="02040503050406030204" pitchFamily="18" charset="0"/>
                <a:ea typeface="Cambria" panose="02040503050406030204" pitchFamily="18" charset="0"/>
              </a:rPr>
              <a:t>                                             SDG 13 (Climate Action) </a:t>
            </a:r>
          </a:p>
          <a:p>
            <a:pPr marL="0" indent="0">
              <a:buNone/>
            </a:pPr>
            <a:r>
              <a:rPr lang="en-US" sz="1800" dirty="0">
                <a:latin typeface="Cambria" panose="02040503050406030204" pitchFamily="18" charset="0"/>
                <a:ea typeface="Cambria" panose="02040503050406030204" pitchFamily="18" charset="0"/>
              </a:rPr>
              <a:t>                                             SDG 8 (Decent Work &amp; Economic Growth)</a:t>
            </a:r>
          </a:p>
          <a:p>
            <a:pPr marL="0" indent="0">
              <a:buNone/>
            </a:pPr>
            <a:r>
              <a:rPr lang="en-US" sz="1800" dirty="0">
                <a:latin typeface="Cambria" panose="02040503050406030204" pitchFamily="18" charset="0"/>
                <a:ea typeface="Cambria" panose="02040503050406030204" pitchFamily="18" charset="0"/>
              </a:rPr>
              <a:t>                                             SDG 17 (Partnerships for the Goals)</a:t>
            </a:r>
            <a:endParaRPr lang="en-IN"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954494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marL="0" indent="0" algn="ctr">
              <a:buNone/>
            </a:pPr>
            <a:endParaRPr lang="en-GB" sz="4400" dirty="0"/>
          </a:p>
          <a:p>
            <a:pPr marL="0" indent="0" algn="ctr">
              <a:buNone/>
            </a:pPr>
            <a:endParaRPr lang="en-GB" sz="4400" dirty="0"/>
          </a:p>
          <a:p>
            <a:pPr marL="0" indent="0" algn="ctr">
              <a:buNone/>
            </a:pPr>
            <a:r>
              <a:rPr lang="en-GB" sz="6000" dirty="0"/>
              <a:t>Thank You</a:t>
            </a:r>
          </a:p>
        </p:txBody>
      </p:sp>
    </p:spTree>
    <p:extLst>
      <p:ext uri="{BB962C8B-B14F-4D97-AF65-F5344CB8AC3E}">
        <p14:creationId xmlns:p14="http://schemas.microsoft.com/office/powerpoint/2010/main" val="3691672322"/>
      </p:ext>
    </p:extLst>
  </p:cSld>
  <p:clrMapOvr>
    <a:masterClrMapping/>
  </p:clrMapOvr>
</p:sld>
</file>

<file path=ppt/theme/theme1.xml><?xml version="1.0" encoding="utf-8"?>
<a:theme xmlns:a="http://schemas.openxmlformats.org/drawingml/2006/main" name="Bioinforma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ioinformatics" id="{2C23B8A5-E958-4A8C-AECF-01EA482D72F9}" vid="{45DF3A2B-1BA7-4465-AD96-220179DE36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Bioinformatics</Template>
  <TotalTime>638</TotalTime>
  <Words>3457</Words>
  <Application>Microsoft Office PowerPoint</Application>
  <PresentationFormat>Widescreen</PresentationFormat>
  <Paragraphs>379</Paragraphs>
  <Slides>23</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Bookman Old Style</vt:lpstr>
      <vt:lpstr>Calibri</vt:lpstr>
      <vt:lpstr>Cambria</vt:lpstr>
      <vt:lpstr>ff1</vt:lpstr>
      <vt:lpstr>ff7</vt:lpstr>
      <vt:lpstr>Times New Roman</vt:lpstr>
      <vt:lpstr>Verdana</vt:lpstr>
      <vt:lpstr>Wingdings</vt:lpstr>
      <vt:lpstr>Bioinformatics</vt:lpstr>
      <vt:lpstr>TRACK AND TRACE SUPPLY CHAIN</vt:lpstr>
      <vt:lpstr>Introduction</vt:lpstr>
      <vt:lpstr>Literature Review</vt:lpstr>
      <vt:lpstr>PowerPoint Presentation</vt:lpstr>
      <vt:lpstr>PowerPoint Presentation</vt:lpstr>
      <vt:lpstr>PowerPoint Presentation</vt:lpstr>
      <vt:lpstr>Existing method Drawback</vt:lpstr>
      <vt:lpstr>Proposed Method</vt:lpstr>
      <vt:lpstr>Objectives</vt:lpstr>
      <vt:lpstr>Methodology/Modules</vt:lpstr>
      <vt:lpstr>PowerPoint Presentation</vt:lpstr>
      <vt:lpstr>Architecture</vt:lpstr>
      <vt:lpstr>software components</vt:lpstr>
      <vt:lpstr>Timeline of Project</vt:lpstr>
      <vt:lpstr>Expected Outcomes</vt:lpstr>
      <vt:lpstr>Conclusion</vt:lpstr>
      <vt:lpstr>Github Link</vt:lpstr>
      <vt:lpstr>References</vt:lpstr>
      <vt:lpstr>PowerPoint Presentation</vt:lpstr>
      <vt:lpstr>PowerPoint Presentation</vt:lpstr>
      <vt:lpstr>PowerPoint Presentation</vt:lpstr>
      <vt:lpstr>Project work mapping with SDG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 P Kaulgud-Asst. Prof-CSE</dc:creator>
  <cp:lastModifiedBy>yaswanth ram</cp:lastModifiedBy>
  <cp:revision>33</cp:revision>
  <dcterms:created xsi:type="dcterms:W3CDTF">2023-03-16T03:26:27Z</dcterms:created>
  <dcterms:modified xsi:type="dcterms:W3CDTF">2024-10-24T09:13:00Z</dcterms:modified>
</cp:coreProperties>
</file>